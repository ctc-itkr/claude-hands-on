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AA7D4"/>
                </a:solidFill>
                <a:latin typeface="Meiryo"/>
                <a:ea typeface="Meiryo"/>
                <a:cs typeface="Meiryo"/>
              </a:rPr>
              <a:t>AIエージェントの地図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Claude Code / Cowork 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周辺ツールの位置づけ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Microsoft 365 Copilot との補完から、Claude Cowork と Claude Code の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使い分けへ。競合ツールは参考として整理します。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Microsoft 365 Copilot と Claude Cowork の住み分け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1615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似た作業はどちらもできます。差が出るのは、仕事の“難所”がどちらの強みに当たるかです。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91672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663440"/>
                <a:gridCol w="441655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観点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Microsoft 365 Copilot（自社Cowork/Code含む）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Claude Cowork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得意（強み）</a:t>
                      </a:r>
                    </a:p>
                  </a:txBody>
                  <a:tcPr marL="109728" marR="109728" marT="54864" marB="54864" anchor="ctr"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自社データへの接続・統合</a:t>
                      </a:r>
                    </a:p>
                  </a:txBody>
                  <a:tcPr marL="109728" marR="109728" marT="54864" marB="54864" anchor="ctr"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自律実行の深さと柔軟性</a:t>
                      </a:r>
                    </a:p>
                  </a:txBody>
                  <a:tcPr marL="109728" marR="109728" marT="54864" marB="54864" anchor="ctr">
                    <a:solidFill>
                      <a:srgbClr val="EAF0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どこから使う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Teams・Outlook・Word など使い慣れた製品の中から呼び出す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専用アプリ（独立した作業環境）で使う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データへの接続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自社テナント(Graph / Work IQ)を自動参照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渡したフォルダ＋Web＋外部ツール(MCP)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向いている仕事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社内情報を使った要約・下書き・分析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多段処理・データ加工・独自成果物づくり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262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例：</a:t>
            </a: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「競合3社の決算を比べたい」→ 社内に資料があれば Copilot で要約。公開データやCSVから作るなら Cowork が取得・解析してダッシュボード化。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406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注意：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統治は Copilot が M365準拠、Cowork は権限確認・フォルダ単位の制限。両者とも自律エージェント機能を持ち、「Cowork」は両社が使う名称です。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Copilotを使っている人が Claude Cowork を足す理由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置き換えではなく役割分担です。CopilotだけではカバーしにくいデータやタスクをClaude Coworkが担います。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836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社外・非Officeのデータも扱える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M365テナントの外にあるデータや形式（社外の公開データ・他システムのCSVなど）も直接処理できます。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80360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980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成果物の自由度が高い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004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Office文書に限らず、独自のツールやHTMLダッシュボードなどを生成できます。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94759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712463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タスクを丸ごと自律実行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複数ステップを計画して実行し、外部ツール(MCP)やコード実行まで任せられます。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09159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6268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範囲を絞って導入できる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0292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フォルダ制限や権限確認で、使える範囲を限定して導入できます（Bedrock等のクラウドにも対応）。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692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ポイント：</a:t>
            </a:r>
            <a:r>
              <a:rPr sz="15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CopilotはOfficeの中と自社データに強く、Coworkはその範囲外のデータやタスクを担当します（補完の関係）。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Claude Cowork と Claude Code の使い分け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できること自体は同じClaudeでほぼ共通（MCP・コード実行・デスクトップアプリもどちらにもあります）。違いは“何に向くか・誰向けか”です。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53949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3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Claude Cowork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24327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一般業務むけ（コード不要）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39"/>
            <a:ext cx="4754880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業務ユーザー（非エンジニア）向け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文書・スライド・表づくり、調査・データ整理に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デスクトップアプリ/Webで対話しながら使う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コードやコマンドを書かなくてよい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874519"/>
            <a:ext cx="53949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214883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624327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ソフトウェア開発むけ（エンジニア）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3063239"/>
            <a:ext cx="4754880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エンジニア・開発者向け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コードを書く・動かす・テストして自分で直す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実際のプロジェクトの中で作業（git・ビルド・CI）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ターミナル(CLI)やIDEからも使える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25780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使い分け：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・コーディングは不要で、日常業務のタスク（調査・資料・データ整理）を任せたいとき → Claude Cowork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・コードやCLIで作り込み・自動化・リポジトリ操作をしたいとき → 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【参考】Claude Code と同じ土俵の競合ツール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1615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Claude Code と同じ土俵のツール。ターミナル(CLI)からコードやファイルを自律操作して開発を進めます。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511296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221991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79191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Anthropic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54680"/>
            <a:ext cx="296265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形態：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CLI＋デスクトップの自律型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Claude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特徴：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スキルやMCPで拡張できる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965960"/>
            <a:ext cx="3511296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5" y="2221991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OpenAI Codex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5" y="2679191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OpenAI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5" y="3154680"/>
            <a:ext cx="296265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形態：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CLI(OSS)＋クラウド＋IDE拡張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GPT-5-codex 系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特徴：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ローカルとクラウドを行き来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1" y="1965960"/>
            <a:ext cx="3511296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2221991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Gemini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679191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Google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154680"/>
            <a:ext cx="296265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形態：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OSSのターミナル型エージェント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特徴：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後継のAntigravity CLIへ移行中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150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選ぶ基準：</a:t>
            </a:r>
            <a:r>
              <a:rPr sz="15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モデル品質・既存エコシステム・社内方針で決めます。用途が重なるため、基本はどれか1つを選びます。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住み分けの一言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11095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既存のMicrosoft世界に根ざし、社内データを自動で活用したいとき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→ M365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008376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特定のデータや外部ツールを、独立した環境で完結させたいとき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→ Claude Cowork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105656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02336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コードを書く・自動化するなど開発そのものを任せたいとき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→ Claude Code / OpenAI Codex / Gemini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7D4"/>
                </a:solidFill>
                <a:latin typeface="Meiryo"/>
                <a:ea typeface="Meiryo"/>
                <a:cs typeface="Meiryo"/>
              </a:rPr>
              <a:t>注意：</a:t>
            </a:r>
            <a:r>
              <a:rPr sz="14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「Cowork」は両社が使う名称です。CopilotもClaudeを利用でき、モデルの違いより「どこに根ざすか」で選びます。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