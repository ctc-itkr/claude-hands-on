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7AA7D4"/>
                </a:solidFill>
                <a:latin typeface="Meiryo"/>
                <a:ea typeface="Meiryo"/>
                <a:cs typeface="Meiryo"/>
              </a:rPr>
              <a:t>AIエージェントの地図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Claude Code / Cowork と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周辺ツールの位置づけ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7D0D9"/>
                </a:solidFill>
                <a:latin typeface="Meiryo"/>
                <a:ea typeface="Meiryo"/>
                <a:cs typeface="Meiryo"/>
              </a:rPr>
              <a:t>Microsoft 365 Copilot との補完から、Claude Cowork と Claude Code の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7D0D9"/>
                </a:solidFill>
                <a:latin typeface="Meiryo"/>
                <a:ea typeface="Meiryo"/>
                <a:cs typeface="Meiryo"/>
              </a:rPr>
              <a:t>使い分けへ。競合ツールは参考として整理します。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670"/>
                </a:solidFill>
                <a:latin typeface="Meiryo"/>
                <a:ea typeface="Meiryo"/>
                <a:cs typeface="Meiryo"/>
              </a:rPr>
              <a:t>出典：各社公式ドキュメント（Anthropic / Microsoft Learn / OpenAI / Google）・2026-10時点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2832"/>
                </a:solidFill>
                <a:latin typeface="Meiryo"/>
                <a:ea typeface="Meiryo"/>
                <a:cs typeface="Meiryo"/>
              </a:rPr>
              <a:t>Microsoft 365 Copilot と Claude Cowork の住み分け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1615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eiryo"/>
                <a:ea typeface="Meiryo"/>
                <a:cs typeface="Meiryo"/>
              </a:rPr>
              <a:t>似た作業はどちらもできます。差が出るのは、仕事の“難所”がどちらの強みに当たるかです。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3246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4663440"/>
                <a:gridCol w="4416552"/>
              </a:tblGrid>
              <a:tr h="5410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観点</a:t>
                      </a:r>
                    </a:p>
                  </a:txBody>
                  <a:tcPr marL="109728" marR="109728" marT="54864" marB="54864" anchor="ctr">
                    <a:solidFill>
                      <a:srgbClr val="2E5A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Microsoft 365 Copilot（自社Cowork/Code含む）</a:t>
                      </a:r>
                    </a:p>
                  </a:txBody>
                  <a:tcPr marL="109728" marR="109728" marT="54864" marB="54864" anchor="ctr">
                    <a:solidFill>
                      <a:srgbClr val="2E5A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Claude Cowork</a:t>
                      </a:r>
                    </a:p>
                  </a:txBody>
                  <a:tcPr marL="109728" marR="109728" marT="54864" marB="54864" anchor="ctr">
                    <a:solidFill>
                      <a:srgbClr val="2E5A88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Meiryo"/>
                          <a:ea typeface="Meiryo"/>
                          <a:cs typeface="Meiryo"/>
                        </a:rPr>
                        <a:t>得意（強み）</a:t>
                      </a:r>
                    </a:p>
                  </a:txBody>
                  <a:tcPr marL="109728" marR="109728" marT="54864" marB="54864" anchor="ctr">
                    <a:solidFill>
                      <a:srgbClr val="EAF0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Meiryo"/>
                          <a:ea typeface="Meiryo"/>
                          <a:cs typeface="Meiryo"/>
                        </a:rPr>
                        <a:t>自社データへの接続・統合</a:t>
                      </a:r>
                    </a:p>
                  </a:txBody>
                  <a:tcPr marL="109728" marR="109728" marT="54864" marB="54864" anchor="ctr">
                    <a:solidFill>
                      <a:srgbClr val="EAF0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Meiryo"/>
                          <a:ea typeface="Meiryo"/>
                          <a:cs typeface="Meiryo"/>
                        </a:rPr>
                        <a:t>自律実行の深さと柔軟性</a:t>
                      </a:r>
                    </a:p>
                  </a:txBody>
                  <a:tcPr marL="109728" marR="109728" marT="54864" marB="54864" anchor="ctr">
                    <a:solidFill>
                      <a:srgbClr val="EAF0F6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Meiryo"/>
                          <a:ea typeface="Meiryo"/>
                          <a:cs typeface="Meiryo"/>
                        </a:rPr>
                        <a:t>向いている仕事</a:t>
                      </a:r>
                    </a:p>
                  </a:txBody>
                  <a:tcPr marL="109728" marR="109728" marT="54864" marB="54864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Meiryo"/>
                          <a:ea typeface="Meiryo"/>
                          <a:cs typeface="Meiryo"/>
                        </a:rPr>
                        <a:t>社内情報を使った要約・下書き・分析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Meiryo"/>
                          <a:ea typeface="Meiryo"/>
                          <a:cs typeface="Meiryo"/>
                        </a:rPr>
                        <a:t>多段処理・データ加工・独自成果物づくり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Meiryo"/>
                          <a:ea typeface="Meiryo"/>
                          <a:cs typeface="Meiryo"/>
                        </a:rPr>
                        <a:t>データへの接続</a:t>
                      </a:r>
                    </a:p>
                  </a:txBody>
                  <a:tcPr marL="109728" marR="109728" marT="54864" marB="54864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Meiryo"/>
                          <a:ea typeface="Meiryo"/>
                          <a:cs typeface="Meiryo"/>
                        </a:rPr>
                        <a:t>自社テナント(Graph / Work IQ)を自動参照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Meiryo"/>
                          <a:ea typeface="Meiryo"/>
                          <a:cs typeface="Meiryo"/>
                        </a:rPr>
                        <a:t>渡したフォルダ＋Web＋外部ツール(MCP)が対象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Meiryo"/>
                          <a:ea typeface="Meiryo"/>
                          <a:cs typeface="Meiryo"/>
                        </a:rPr>
                        <a:t>自律エージェント</a:t>
                      </a:r>
                    </a:p>
                  </a:txBody>
                  <a:tcPr marL="109728" marR="109728" marT="54864" marB="54864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Meiryo"/>
                          <a:ea typeface="Meiryo"/>
                          <a:cs typeface="Meiryo"/>
                        </a:rPr>
                        <a:t>あり（Copilot Studio等）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Meiryo"/>
                          <a:ea typeface="Meiryo"/>
                          <a:cs typeface="Meiryo"/>
                        </a:rPr>
                        <a:t>あり（コード実行・任意ツールまで踏み込む）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Meiryo"/>
                          <a:ea typeface="Meiryo"/>
                          <a:cs typeface="Meiryo"/>
                        </a:rPr>
                        <a:t>統治/境界</a:t>
                      </a:r>
                    </a:p>
                  </a:txBody>
                  <a:tcPr marL="109728" marR="109728" marT="54864" marB="54864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Meiryo"/>
                          <a:ea typeface="Meiryo"/>
                          <a:cs typeface="Meiryo"/>
                        </a:rPr>
                        <a:t>M365コンプライアンス（EDP / Purview）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Meiryo"/>
                          <a:ea typeface="Meiryo"/>
                          <a:cs typeface="Meiryo"/>
                        </a:rPr>
                        <a:t>権限確認・フォルダ単位の制限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486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E5A88"/>
                </a:solidFill>
                <a:latin typeface="Meiryo"/>
                <a:ea typeface="Meiryo"/>
                <a:cs typeface="Meiryo"/>
              </a:rPr>
              <a:t>注意：</a:t>
            </a:r>
            <a:r>
              <a:rPr sz="13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「Cowork」は両社が使う名称なので社名を冠して区別します。Copilotも内部でClaudeを利用できるため、モデルの違いは選択の決め手になりません。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670"/>
                </a:solidFill>
                <a:latin typeface="Meiryo"/>
                <a:ea typeface="Meiryo"/>
                <a:cs typeface="Meiryo"/>
              </a:rPr>
              <a:t>出典：各社公式ドキュメント（Anthropic / Microsoft Learn / OpenAI / Google）・2026-10時点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E2832"/>
                </a:solidFill>
                <a:latin typeface="Meiryo"/>
                <a:ea typeface="Meiryo"/>
                <a:cs typeface="Meiryo"/>
              </a:rPr>
              <a:t>Copilotを使っている人が Claude Cowork を足す理由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eiryo"/>
                <a:ea typeface="Meiryo"/>
                <a:cs typeface="Meiryo"/>
              </a:rPr>
              <a:t>置き換えではなく役割分担です。CopilotだけではカバーしにくいデータやタスクをClaude Coworkが担います。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46304" cy="146304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83664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E5A88"/>
                </a:solidFill>
                <a:latin typeface="Meiryo"/>
                <a:ea typeface="Meiryo"/>
                <a:cs typeface="Meiryo"/>
              </a:rPr>
              <a:t>社外・非Officeのデータも扱える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M365テナントの外にあるデータや形式（社外の公開データ・他システムのCSVなど）も直接処理できます。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80360"/>
            <a:ext cx="146304" cy="146304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98064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E5A88"/>
                </a:solidFill>
                <a:latin typeface="Meiryo"/>
                <a:ea typeface="Meiryo"/>
                <a:cs typeface="Meiryo"/>
              </a:rPr>
              <a:t>成果物の自由度が高い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Office文書に限らず、独自のツールやHTMLダッシュボードなどを生成できます。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94759"/>
            <a:ext cx="146304" cy="146304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12463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E5A88"/>
                </a:solidFill>
                <a:latin typeface="Meiryo"/>
                <a:ea typeface="Meiryo"/>
                <a:cs typeface="Meiryo"/>
              </a:rPr>
              <a:t>タスクを丸ごと自律実行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複数ステップを計画して実行し、外部ツール(MCP)やコード実行まで任せられます。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09159"/>
            <a:ext cx="146304" cy="146304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626864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E5A88"/>
                </a:solidFill>
                <a:latin typeface="Meiryo"/>
                <a:ea typeface="Meiryo"/>
                <a:cs typeface="Meiryo"/>
              </a:rPr>
              <a:t>範囲を絞って導入できる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フォルダ制限や権限確認で、使える範囲を限定して導入できます（Bedrock等のクラウドにも対応）。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5A88"/>
                </a:solidFill>
                <a:latin typeface="Meiryo"/>
                <a:ea typeface="Meiryo"/>
                <a:cs typeface="Meiryo"/>
              </a:rPr>
              <a:t>ポイント：</a:t>
            </a:r>
            <a:r>
              <a:rPr sz="15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CopilotはOfficeの中と自社データに強く、Coworkはその範囲外のデータやタスクを担当します（補完の関係）。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8251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670"/>
                </a:solidFill>
                <a:latin typeface="Meiryo"/>
                <a:ea typeface="Meiryo"/>
                <a:cs typeface="Meiryo"/>
              </a:rPr>
              <a:t>出典：各社公式ドキュメント（Anthropic / Microsoft Learn / OpenAI / Google）・2026-10時点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E2832"/>
                </a:solidFill>
                <a:latin typeface="Meiryo"/>
                <a:ea typeface="Meiryo"/>
                <a:cs typeface="Meiryo"/>
              </a:rPr>
              <a:t>Claude Cowork と Claude Code は同じ頭脳で入り口が違う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eiryo"/>
                <a:ea typeface="Meiryo"/>
                <a:cs typeface="Meiryo"/>
              </a:rPr>
              <a:t>土台は同じClaudeなので、できること自体はほぼ同じ。違いは“得意領域”と“入り口（ターミナルの有無）”です。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39496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39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2E5A88"/>
                </a:solidFill>
                <a:latin typeface="Meiryo"/>
                <a:ea typeface="Meiryo"/>
                <a:cs typeface="Meiryo"/>
              </a:rPr>
              <a:t>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24327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2832"/>
                </a:solidFill>
                <a:latin typeface="Meiryo"/>
                <a:ea typeface="Meiryo"/>
                <a:cs typeface="Meiryo"/>
              </a:rPr>
              <a:t>得意＝文書・資料などのビジネス知識労働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39"/>
            <a:ext cx="475488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E5A88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3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コーディング不要で、主に業務ユーザー向け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E5A88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3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文書・スライド・表・レポートを作成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E5A88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3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選んだフォルダのファイル＋Web＋MCP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E5A88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3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調査・資料づくり・データ整理を任せる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874519"/>
            <a:ext cx="539496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148839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2E5A88"/>
                </a:solidFill>
                <a:latin typeface="Meiryo"/>
                <a:ea typeface="Meiryo"/>
                <a:cs typeface="Meiryo"/>
              </a:rPr>
              <a:t>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624327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2832"/>
                </a:solidFill>
                <a:latin typeface="Meiryo"/>
                <a:ea typeface="Meiryo"/>
                <a:cs typeface="Meiryo"/>
              </a:rPr>
              <a:t>得意＝コード・開発などのソフトウェア作業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3063239"/>
            <a:ext cx="475488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E5A88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3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ターミナル(CLI)・プロジェクト単位で深く踏み込む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E5A88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3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コード・リポジトリ・ファイルを操作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E5A88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3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スクリプトやパイプラインで作り込み・自動化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E5A88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3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データ処理やツールの作り込みはこちら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5780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5A88"/>
                </a:solidFill>
                <a:latin typeface="Meiryo"/>
                <a:ea typeface="Meiryo"/>
                <a:cs typeface="Meiryo"/>
              </a:rPr>
              <a:t>使い分け：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・コーディングは不要で、日常業務のタスク（調査・資料・データ整理）を任せたいとき → Claude Cowork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・コードやCLIで作り込み・自動化・リポジトリ操作をしたいとき → Claude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8251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670"/>
                </a:solidFill>
                <a:latin typeface="Meiryo"/>
                <a:ea typeface="Meiryo"/>
                <a:cs typeface="Meiryo"/>
              </a:rPr>
              <a:t>出典：各社公式ドキュメント（Anthropic / Microsoft Learn / OpenAI / Google）・2026-10時点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2832"/>
                </a:solidFill>
                <a:latin typeface="Meiryo"/>
                <a:ea typeface="Meiryo"/>
                <a:cs typeface="Meiryo"/>
              </a:rPr>
              <a:t>【参考】Claude Code と同じ土俵の競合ツール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1615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eiryo"/>
                <a:ea typeface="Meiryo"/>
                <a:cs typeface="Meiryo"/>
              </a:rPr>
              <a:t>Claude Code と同じ土俵のツール。ターミナル(CLI)からコードやファイルを自律操作して開発を進めます。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511296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221991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E5A88"/>
                </a:solidFill>
                <a:latin typeface="Meiryo"/>
                <a:ea typeface="Meiryo"/>
                <a:cs typeface="Meiryo"/>
              </a:rPr>
              <a:t>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79191"/>
            <a:ext cx="29626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670"/>
                </a:solidFill>
                <a:latin typeface="Meiryo"/>
                <a:ea typeface="Meiryo"/>
                <a:cs typeface="Meiryo"/>
              </a:rPr>
              <a:t>Anthropic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54680"/>
            <a:ext cx="2962656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E2832"/>
                </a:solidFill>
                <a:latin typeface="Meiryo"/>
                <a:ea typeface="Meiryo"/>
                <a:cs typeface="Meiryo"/>
              </a:rPr>
              <a:t>形態：</a:t>
            </a:r>
            <a:r>
              <a:rPr sz="12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CLI＋デスクトップの自律型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E2832"/>
                </a:solidFill>
                <a:latin typeface="Meiryo"/>
                <a:ea typeface="Meiryo"/>
                <a:cs typeface="Meiryo"/>
              </a:rPr>
              <a:t>モデル：</a:t>
            </a:r>
            <a:r>
              <a:rPr sz="12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Claude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E2832"/>
                </a:solidFill>
                <a:latin typeface="Meiryo"/>
                <a:ea typeface="Meiryo"/>
                <a:cs typeface="Meiryo"/>
              </a:rPr>
              <a:t>特徴：</a:t>
            </a:r>
            <a:r>
              <a:rPr sz="12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スキルやMCPで拡張できる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5" y="1965960"/>
            <a:ext cx="3511296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5" y="2221991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E5A88"/>
                </a:solidFill>
                <a:latin typeface="Meiryo"/>
                <a:ea typeface="Meiryo"/>
                <a:cs typeface="Meiryo"/>
              </a:rPr>
              <a:t>OpenAI Codex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5" y="2679191"/>
            <a:ext cx="29626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670"/>
                </a:solidFill>
                <a:latin typeface="Meiryo"/>
                <a:ea typeface="Meiryo"/>
                <a:cs typeface="Meiryo"/>
              </a:rPr>
              <a:t>OpenAI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5" y="3154680"/>
            <a:ext cx="2962656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E2832"/>
                </a:solidFill>
                <a:latin typeface="Meiryo"/>
                <a:ea typeface="Meiryo"/>
                <a:cs typeface="Meiryo"/>
              </a:rPr>
              <a:t>形態：</a:t>
            </a:r>
            <a:r>
              <a:rPr sz="12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CLI(OSS)＋クラウド＋IDE拡張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E2832"/>
                </a:solidFill>
                <a:latin typeface="Meiryo"/>
                <a:ea typeface="Meiryo"/>
                <a:cs typeface="Meiryo"/>
              </a:rPr>
              <a:t>モデル：</a:t>
            </a:r>
            <a:r>
              <a:rPr sz="12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GPT-5-codex 系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E2832"/>
                </a:solidFill>
                <a:latin typeface="Meiryo"/>
                <a:ea typeface="Meiryo"/>
                <a:cs typeface="Meiryo"/>
              </a:rPr>
              <a:t>特徴：</a:t>
            </a:r>
            <a:r>
              <a:rPr sz="12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ローカルとクラウドを行き来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1" y="1965960"/>
            <a:ext cx="3511296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2221991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E5A88"/>
                </a:solidFill>
                <a:latin typeface="Meiryo"/>
                <a:ea typeface="Meiryo"/>
                <a:cs typeface="Meiryo"/>
              </a:rPr>
              <a:t>Gemini CLI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679191"/>
            <a:ext cx="29626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670"/>
                </a:solidFill>
                <a:latin typeface="Meiryo"/>
                <a:ea typeface="Meiryo"/>
                <a:cs typeface="Meiryo"/>
              </a:rPr>
              <a:t>Google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3154680"/>
            <a:ext cx="2962656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E2832"/>
                </a:solidFill>
                <a:latin typeface="Meiryo"/>
                <a:ea typeface="Meiryo"/>
                <a:cs typeface="Meiryo"/>
              </a:rPr>
              <a:t>形態：</a:t>
            </a:r>
            <a:r>
              <a:rPr sz="12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OSSのターミナル型エージェント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E2832"/>
                </a:solidFill>
                <a:latin typeface="Meiryo"/>
                <a:ea typeface="Meiryo"/>
                <a:cs typeface="Meiryo"/>
              </a:rPr>
              <a:t>モデル：</a:t>
            </a:r>
            <a:r>
              <a:rPr sz="12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Gemini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E2832"/>
                </a:solidFill>
                <a:latin typeface="Meiryo"/>
                <a:ea typeface="Meiryo"/>
                <a:cs typeface="Meiryo"/>
              </a:rPr>
              <a:t>特徴：</a:t>
            </a:r>
            <a:r>
              <a:rPr sz="12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後継のAntigravity CLIへ移行中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150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5A88"/>
                </a:solidFill>
                <a:latin typeface="Meiryo"/>
                <a:ea typeface="Meiryo"/>
                <a:cs typeface="Meiryo"/>
              </a:rPr>
              <a:t>選ぶ基準：</a:t>
            </a:r>
            <a:r>
              <a:rPr sz="1500" b="0">
                <a:solidFill>
                  <a:srgbClr val="1E2832"/>
                </a:solidFill>
                <a:latin typeface="Meiryo"/>
                <a:ea typeface="Meiryo"/>
                <a:cs typeface="Meiryo"/>
              </a:rPr>
              <a:t>モデル品質・既存エコシステム・社内方針で決めます。用途が重なるため、基本はどれか1つを選びます。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8251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670"/>
                </a:solidFill>
                <a:latin typeface="Meiryo"/>
                <a:ea typeface="Meiryo"/>
                <a:cs typeface="Meiryo"/>
              </a:rPr>
              <a:t>出典：各社公式ドキュメント（Anthropic / Microsoft Learn / OpenAI / Google）・2026-10時点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住み分けの一言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11095"/>
            <a:ext cx="146304" cy="146304"/>
          </a:xfrm>
          <a:prstGeom prst="rect">
            <a:avLst/>
          </a:prstGeom>
          <a:solidFill>
            <a:srgbClr val="7AA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既存のMicrosoft世界に根ざし、社内データを自動で活用したいとき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C7D0D9"/>
                </a:solidFill>
                <a:latin typeface="Meiryo"/>
                <a:ea typeface="Meiryo"/>
                <a:cs typeface="Meiryo"/>
              </a:rPr>
              <a:t>→ M365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008376"/>
            <a:ext cx="146304" cy="146304"/>
          </a:xfrm>
          <a:prstGeom prst="rect">
            <a:avLst/>
          </a:prstGeom>
          <a:solidFill>
            <a:srgbClr val="7AA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特定のデータや外部ツールを、独立した環境で完結させたいとき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C7D0D9"/>
                </a:solidFill>
                <a:latin typeface="Meiryo"/>
                <a:ea typeface="Meiryo"/>
                <a:cs typeface="Meiryo"/>
              </a:rPr>
              <a:t>→ Claude Cowork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105656"/>
            <a:ext cx="146304" cy="146304"/>
          </a:xfrm>
          <a:prstGeom prst="rect">
            <a:avLst/>
          </a:prstGeom>
          <a:solidFill>
            <a:srgbClr val="7AA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02336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コードを書く・自動化するなど開発そのものを任せたいとき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C7D0D9"/>
                </a:solidFill>
                <a:latin typeface="Meiryo"/>
                <a:ea typeface="Meiryo"/>
                <a:cs typeface="Meiryo"/>
              </a:rPr>
              <a:t>→ Claude Code / OpenAI Codex / Gemini 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7D4"/>
                </a:solidFill>
                <a:latin typeface="Meiryo"/>
                <a:ea typeface="Meiryo"/>
                <a:cs typeface="Meiryo"/>
              </a:rPr>
              <a:t>注意：</a:t>
            </a:r>
            <a:r>
              <a:rPr sz="1400" b="0">
                <a:solidFill>
                  <a:srgbClr val="C7D0D9"/>
                </a:solidFill>
                <a:latin typeface="Meiryo"/>
                <a:ea typeface="Meiryo"/>
                <a:cs typeface="Meiryo"/>
              </a:rPr>
              <a:t>「Cowork」は両社が使う名称です。CopilotもClaudeを利用でき、モデルの違いより「どこに根ざすか」で選びます。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670"/>
                </a:solidFill>
                <a:latin typeface="Meiryo"/>
                <a:ea typeface="Meiryo"/>
                <a:cs typeface="Meiryo"/>
              </a:rPr>
              <a:t>出典：各社公式ドキュメント（Anthropic / Microsoft Learn / OpenAI / Google）・2026-10時点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