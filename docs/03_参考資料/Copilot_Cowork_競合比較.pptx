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97C37"/>
                </a:solidFill>
                <a:latin typeface="Meiryo"/>
              </a:rPr>
              <a:t>AIエージェントの地図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Claude Code / Cowork 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eiryo"/>
              </a:rPr>
              <a:t>周辺ツールの位置づけ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9DDE3"/>
                </a:solidFill>
                <a:latin typeface="Meiryo"/>
              </a:rPr>
              <a:t>「純粋な競合（同じ土俵）」と「補完（別エコシステム）」を分けて理解する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純粋な競合：自律コーディングエージェント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同じ土俵。ターミナル／CLIでリポジトリに対し自律的に作業する系。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Anthropic（本件）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CLI＋デスクトップの自律エージェント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本ハンズオンで使用。スキル/MCPで拡張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5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OpenAI Codex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5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5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Codex CLI(OSS)＋Cloud＋IDE拡張＋SDK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GPT‑5‑codex 系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ローカルとクラウドsandboxを行き来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1" y="1920240"/>
            <a:ext cx="3511296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2176272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Gemini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633472"/>
            <a:ext cx="29626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F7683"/>
                </a:solidFill>
                <a:latin typeface="Meiryo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108960"/>
            <a:ext cx="2962656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形態：</a:t>
            </a:r>
            <a:r>
              <a:rPr sz="1200" b="0">
                <a:solidFill>
                  <a:srgbClr val="232830"/>
                </a:solidFill>
                <a:latin typeface="Meiryo"/>
              </a:rPr>
              <a:t>OSSターミナルエージェント（ReAct＋MCP）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モデル：</a:t>
            </a:r>
            <a:r>
              <a:rPr sz="1200" b="0">
                <a:solidFill>
                  <a:srgbClr val="232830"/>
                </a:solidFill>
                <a:latin typeface="Meiryo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>
                <a:solidFill>
                  <a:srgbClr val="232830"/>
                </a:solidFill>
                <a:latin typeface="Meiryo"/>
              </a:rPr>
              <a:t>特徴：</a:t>
            </a:r>
            <a:r>
              <a:rPr sz="1200" b="0">
                <a:solidFill>
                  <a:srgbClr val="232830"/>
                </a:solidFill>
                <a:latin typeface="Meiryo"/>
              </a:rPr>
              <a:t>Antigravity CLI へ移行中（2026-06）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選ぶ基準：</a:t>
            </a:r>
            <a:r>
              <a:rPr sz="1500" b="0">
                <a:solidFill>
                  <a:srgbClr val="232830"/>
                </a:solidFill>
                <a:latin typeface="Meiryo"/>
              </a:rPr>
              <a:t>モデル品質・既存エコシステム・社内方針。ここは真っ向勝負で、1つを選ぶ領域。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232830"/>
                </a:solidFill>
                <a:latin typeface="Meiryo"/>
              </a:rPr>
              <a:t>補完：組織AI vs 独立エージェント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競合というより住み分け。何に根ざし、どう統治されるかで分かれる。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1672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663440"/>
                <a:gridCol w="441655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Microsoft 365 Copilot（自社Cowork/Code含む）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Claude Cowork（本件・Bedrock経由）</a:t>
                      </a:r>
                    </a:p>
                  </a:txBody>
                  <a:tcPr marL="109728" marR="109728" marT="54864" marB="54864" anchor="ctr">
                    <a:solidFill>
                      <a:srgbClr val="8A632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立ち位置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Microsoftエコシステムに内蔵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独立した作業エージェント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根ざすデータ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自社テナント（Microsoft Graph / Work IQ）を権限内で自動参照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渡したフォルダ＋Web＋外部ツール(MCP)。テナント連携しない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自律エージェント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あり（Copilot Studio／Copilot Cowork・Code）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あり（Claude Codeと同一アーキテクチャ・ターミナル不要）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使うモデル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自動ルーター（Anthropic含む複数）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Claude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32830"/>
                          </a:solidFill>
                          <a:latin typeface="Meiryo"/>
                        </a:rPr>
                        <a:t>統治／境界</a:t>
                      </a:r>
                    </a:p>
                  </a:txBody>
                  <a:tcPr marL="109728" marR="109728" marT="54864" marB="54864" anchor="ctr">
                    <a:solidFill>
                      <a:srgbClr val="F1EA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M365コンプライアンス（EDP / Purview / EUDB）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32830"/>
                          </a:solidFill>
                          <a:latin typeface="Meiryo"/>
                        </a:rPr>
                        <a:t>Bedrock・フォルダ制限・権限確認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A6326"/>
                </a:solidFill>
                <a:latin typeface="Meiryo"/>
              </a:rPr>
              <a:t>注意：</a:t>
            </a:r>
            <a:r>
              <a:rPr sz="1300" b="0">
                <a:solidFill>
                  <a:srgbClr val="232830"/>
                </a:solidFill>
                <a:latin typeface="Meiryo"/>
              </a:rPr>
              <a:t>「Cowork」は両社が使う名称（必ず社名を冠す）。Copilotも内部でClaudeを利用可＝モデルは差別化軸にならない。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32830"/>
                </a:solidFill>
                <a:latin typeface="Meiryo"/>
              </a:rPr>
              <a:t>Copilotを使っている人が Claude Cowork を足す理由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置き換えではなく、Copilotが届きにくい“外側”を埋める（補完）。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836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社外・非Officeのデータも扱える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M365テナント外のデータや形式（例：EDINETのXBRL）を直接処理できる。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80360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980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成果物の自由度が高い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00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Office文書に限らず、独自ツールやHTMLダッシュボード等を生成できる。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94759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3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タスクを丸ごと自律実行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複数ステップを計画→実行。外部ツール(MCP)やコード実行まで任せられる。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59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8A6326"/>
                </a:solidFill>
                <a:latin typeface="Meiryo"/>
              </a:rPr>
              <a:t>本件は範囲を絞って導入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Bedrock経由・フォルダ制限・権限確認で、使える範囲を限定して統治できる。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要は：</a:t>
            </a:r>
            <a:r>
              <a:rPr sz="1500" b="0">
                <a:solidFill>
                  <a:srgbClr val="232830"/>
                </a:solidFill>
                <a:latin typeface="Meiryo"/>
              </a:rPr>
              <a:t>Copilotは“Officeの中×自社データ”が強い。Coworkはその外側を埋める＝競合ではなく補完。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232830"/>
                </a:solidFill>
                <a:latin typeface="Meiryo"/>
              </a:rPr>
              <a:t>Claude Code と M365 Copilot：似て見えて役割が違う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F7683"/>
                </a:solidFill>
                <a:latin typeface="Meiryo"/>
              </a:rPr>
              <a:t>どちらもAIアシスタント。だが“何のために作られたか”が違う。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8A6326"/>
                </a:solidFill>
                <a:latin typeface="Meiryo"/>
              </a:rPr>
              <a:t>M365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F7683"/>
                </a:solidFill>
                <a:latin typeface="Meiryo"/>
              </a:rPr>
              <a:t>Officeの中の相棒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自社データ(Graph/Work IQ)で下書き・要約・分析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Word/Excel/PPT/Outlook/Teams の中で完結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主に業務ユーザー。M365の統治下で使う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828800"/>
            <a:ext cx="5394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8A6326"/>
                </a:solidFill>
                <a:latin typeface="Meiry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F7683"/>
                </a:solidFill>
                <a:latin typeface="Meiryo"/>
              </a:rPr>
              <a:t>開発者グレードの作業エージェント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3063240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ファイル・コード・外部ツール(MCP)を操作して“作る/自動化”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独自成果物（スクリプト/パイプライン/ダッシュボード）を生成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•  </a:t>
            </a:r>
            <a:r>
              <a:rPr sz="1400" b="0">
                <a:solidFill>
                  <a:srgbClr val="232830"/>
                </a:solidFill>
                <a:latin typeface="Meiryo"/>
              </a:rPr>
              <a:t>ターミナル/プロジェクト単位。本件のEDINET→DBもこちら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21208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8A6326"/>
                </a:solidFill>
                <a:latin typeface="Meiryo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・Officeの中で自社データを扱い、文章・資料・分析をしたい → M365 Copilot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232830"/>
                </a:solidFill>
                <a:latin typeface="Meiryo"/>
              </a:rPr>
              <a:t>・何かを作る/自動化/データをコードやツールで処理して独自成果物 →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eiryo"/>
              </a:rPr>
              <a:t>住み分けの一言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91109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既存のMicrosoft世界に根ざし、社内データを自動活用したい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M365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962656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特定のデータ/外部ツールを、独立した環境で完結させたい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Cowork（本件のEDINET→ダッシュボードはこちら）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14215"/>
            <a:ext cx="146304" cy="146304"/>
          </a:xfrm>
          <a:prstGeom prst="rect">
            <a:avLst/>
          </a:prstGeom>
          <a:solidFill>
            <a:srgbClr val="A97C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Meiryo"/>
              </a:rPr>
              <a:t>コーディングは真っ向勝負　</a:t>
            </a:r>
            <a:r>
              <a:rPr sz="1800" b="0">
                <a:solidFill>
                  <a:srgbClr val="D9DDE3"/>
                </a:solidFill>
                <a:latin typeface="Meiryo"/>
              </a:rPr>
              <a:t>→ Claude Code / OpenAI Codex / Gemini CLI から選ぶ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A97C37"/>
                </a:solidFill>
                <a:latin typeface="Meiryo"/>
              </a:rPr>
              <a:t>注意：</a:t>
            </a:r>
            <a:r>
              <a:rPr sz="1400" b="0">
                <a:solidFill>
                  <a:srgbClr val="D9DDE3"/>
                </a:solidFill>
                <a:latin typeface="Meiryo"/>
              </a:rPr>
              <a:t>“Cowork”は両社で使う名称／CopilotもClaude利用可／モデルの差より“どこに根ざすか”で選ぶ。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6F7683"/>
                </a:solidFill>
                <a:latin typeface="Meiryo"/>
              </a:rPr>
              <a:t>出典：各社公式ドキュメント（Anthropic / Microsoft Learn / OpenAI / Google）・2026-10時点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