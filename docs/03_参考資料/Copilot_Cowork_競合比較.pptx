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AA7D4"/>
                </a:solidFill>
                <a:latin typeface="游ゴシック"/>
                <a:ea typeface="游ゴシック"/>
                <a:cs typeface="游ゴシック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游ゴシック"/>
                <a:ea typeface="游ゴシック"/>
                <a:cs typeface="游ゴシック"/>
              </a:rPr>
              <a:t>「純粋な競合（同じ土俵）」と「補完（別エコシステム）」を分けて理解する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純粋な競合：自律コーディングエージェント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同じ土俵。ターミナル／CLIでリポジトリに対し自律的に作業する系。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形態：</a:t>
            </a:r>
            <a:r>
              <a:rPr sz="12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CLI＋デスクトップの自律エージェント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特徴：</a:t>
            </a:r>
            <a:r>
              <a:rPr sz="12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スキル/MCPで拡張できる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形態：</a:t>
            </a:r>
            <a:r>
              <a:rPr sz="12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Codex CLI(OSS)＋Cloud＋IDE拡張＋SDK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GPT‑5‑codex 系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特徴：</a:t>
            </a:r>
            <a:r>
              <a:rPr sz="12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ローカルとクラウドsandboxを行き来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1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形態：</a:t>
            </a:r>
            <a:r>
              <a:rPr sz="12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OSSターミナルエージェント（ReAct＋MCP）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特徴：</a:t>
            </a:r>
            <a:r>
              <a:rPr sz="12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Antigravity CLI へ移行中（2026-06）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選ぶ基準：</a:t>
            </a:r>
            <a:r>
              <a:rPr sz="15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モデル品質・既存エコシステム・社内方針。ここは真っ向勝負で、1つを選ぶ領域。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補完：組織AI vs 独立エージェント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競合というより住み分け。何に根ざし、どう統治されるかで分かれる。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09167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Claude Cowork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立ち位置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Microsoftエコシステムに内蔵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独立した作業エージェント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根ざすデータ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自社テナント（Microsoft Graph / Work IQ）を権限内で自動参照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渡したフォルダ＋Web＋外部ツール(MCP)。テナント連携しない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自律エージェント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あり（Copilot Studio／Copilot Cowork・Code）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あり（Claude Codeと同一アーキテクチャ・ターミナル不要）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使うモデル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自動ルーター（Anthropic含む複数）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Claude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統治／境界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M365コンプライアンス（EDP / Purview / EUDB）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権限確認・フォルダ単位のアクセス制限（Bedrock等のクラウドでも導入可）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注意：</a:t>
            </a:r>
            <a:r>
              <a:rPr sz="13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「Cowork」は両社が使う名称（必ず社名を冠す）。Copilotも内部でClaudeを利用可＝モデルは差別化軸にならない。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置き換えではなく、Copilotが届きにくい“外側”を埋める（補完）。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836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M365テナント外のデータや形式（社外の公開データ・他システムのCSV等）を直接処理できる。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980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Office文書に限らず、独自ツールやHTMLダッシュボード等を生成できる。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3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複数ステップを計画→実行。外部ツール(MCP)やコード実行まで任せられる。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範囲を絞って導入できる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フォルダ制限・権限確認で、使える範囲を限定して統治できる（Bedrock等のクラウドにも対応）。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要は：</a:t>
            </a:r>
            <a:r>
              <a:rPr sz="15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Copilotは“Officeの中×自社データ”が強い。Coworkはその外側を埋める＝競合ではなく補完。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Claude Cowork と Claude Code：同じ頭脳、入り口が違う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どちらもClaudeの“同一の自律エージェント基盤”。対象と使う人で選ぶ。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ターミナル不要の業務エージェント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4754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•  </a:t>
            </a:r>
            <a:r>
              <a:rPr sz="13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コーディング不要。主に業務ユーザー向け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•  </a:t>
            </a:r>
            <a:r>
              <a:rPr sz="13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文書・スライド・表・レポートを作成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•  </a:t>
            </a:r>
            <a:r>
              <a:rPr sz="13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選んだフォルダのファイル＋Web＋MCP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•  </a:t>
            </a:r>
            <a:r>
              <a:rPr sz="13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調査・資料づくり・データ整理を任せる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828800"/>
            <a:ext cx="53949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開発者グレードの作業エージェント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017520"/>
            <a:ext cx="4754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•  </a:t>
            </a:r>
            <a:r>
              <a:rPr sz="13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ターミナル/CLI・プロジェクト単位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•  </a:t>
            </a:r>
            <a:r>
              <a:rPr sz="13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コード・リポジトリ・ファイルを操作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•  </a:t>
            </a:r>
            <a:r>
              <a:rPr sz="13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スクリプト/パイプライン等で作り込み・自動化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•  </a:t>
            </a:r>
            <a:r>
              <a:rPr sz="13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データ処理やツールの作り込みはこちら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57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5A88"/>
                </a:solidFill>
                <a:latin typeface="游ゴシック"/>
                <a:ea typeface="游ゴシック"/>
                <a:cs typeface="游ゴシック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・コーディング不要で、日常業務のタスク（調査・資料・データ整理）を任せたい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游ゴシック"/>
                <a:ea typeface="游ゴシック"/>
                <a:cs typeface="游ゴシック"/>
              </a:rPr>
              <a:t>・コードやCLIで作り込み・自動化・リポジトリ操作をしたい →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既存のMicrosoft世界に根ざし、社内データを自動活用したい　</a:t>
            </a:r>
            <a:r>
              <a:rPr sz="1800" b="0">
                <a:solidFill>
                  <a:srgbClr val="C7D0D9"/>
                </a:solidFill>
                <a:latin typeface="游ゴシック"/>
                <a:ea typeface="游ゴシック"/>
                <a:cs typeface="游ゴシック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6265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803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特定のデータ/外部ツールを、独立した環境で完結させたい　</a:t>
            </a:r>
            <a:r>
              <a:rPr sz="1800" b="0">
                <a:solidFill>
                  <a:srgbClr val="C7D0D9"/>
                </a:solidFill>
                <a:latin typeface="游ゴシック"/>
                <a:ea typeface="游ゴシック"/>
                <a:cs typeface="游ゴシック"/>
              </a:rPr>
              <a:t>→ Claude Cowork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014215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319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コーディングは真っ向勝負　</a:t>
            </a:r>
            <a:r>
              <a:rPr sz="1800" b="0">
                <a:solidFill>
                  <a:srgbClr val="C7D0D9"/>
                </a:solidFill>
                <a:latin typeface="游ゴシック"/>
                <a:ea typeface="游ゴシック"/>
                <a:cs typeface="游ゴシック"/>
              </a:rPr>
              <a:t>→ Claude Code / OpenAI Codex / Gemini CLI から選ぶ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7D4"/>
                </a:solidFill>
                <a:latin typeface="游ゴシック"/>
                <a:ea typeface="游ゴシック"/>
                <a:cs typeface="游ゴシック"/>
              </a:rPr>
              <a:t>注意：</a:t>
            </a:r>
            <a:r>
              <a:rPr sz="1400" b="0">
                <a:solidFill>
                  <a:srgbClr val="C7D0D9"/>
                </a:solidFill>
                <a:latin typeface="游ゴシック"/>
                <a:ea typeface="游ゴシック"/>
                <a:cs typeface="游ゴシック"/>
              </a:rPr>
              <a:t>“Cowork”は両社で使う名称／CopilotもClaude利用可／モデルの差より“どこに根ざすか”で選ぶ。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游ゴシック"/>
                <a:ea typeface="游ゴシック"/>
                <a:cs typeface="游ゴシック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