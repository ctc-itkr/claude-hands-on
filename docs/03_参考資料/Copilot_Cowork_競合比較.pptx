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97C37"/>
                </a:solidFill>
                <a:latin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9DDE3"/>
                </a:solidFill>
                <a:latin typeface="Meiryo"/>
              </a:rPr>
              <a:t>「純粋な競合（同じ土俵）」と「補完（別エコシステム）」を分けて理解する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232830"/>
                </a:solidFill>
                <a:latin typeface="Meiryo"/>
              </a:rPr>
              <a:t>純粋な競合：自律コーディングエージェント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同じ土俵。ターミナル／CLIでリポジトリに対し自律的に作業する系。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Anthropic（本件）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CLI＋デスクトップの自律エージェント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本ハンズオンで使用。スキル/MCPで拡張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Codex CLI(OSS)＋Cloud＋IDE拡張＋SDK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GPT‑5‑codex 系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ローカルとクラウドsandboxを行き来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OSSターミナルエージェント（ReAct＋MCP）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Antigravity CLI へ移行中（2026-06）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A6326"/>
                </a:solidFill>
                <a:latin typeface="Meiryo"/>
              </a:rPr>
              <a:t>選ぶ基準：</a:t>
            </a:r>
            <a:r>
              <a:rPr sz="1500" b="0">
                <a:solidFill>
                  <a:srgbClr val="232830"/>
                </a:solidFill>
                <a:latin typeface="Meiryo"/>
              </a:rPr>
              <a:t>モデル品質・既存エコシステム・社内方針。ここは真っ向勝負で、1つを選ぶ領域。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232830"/>
                </a:solidFill>
                <a:latin typeface="Meiryo"/>
              </a:rPr>
              <a:t>補完：組織AI vs 独立エージェント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競合というより住み分け。何に根ざし、どう統治されるかで分かれる。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09167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Claude Cowork（本件・Bedrock経由）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立ち位置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Microsoftエコシステムに内蔵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独立した作業エージェント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根ざすデータ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自社テナント（Microsoft Graph / Work IQ）を権限内で自動参照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渡したフォルダ＋Web＋外部ツール(MCP)。テナント連携しない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自律エージェント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あり（Copilot Studio／Copilot Cowork・Code）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あり（Claude Codeと同一アーキテクチャ・ターミナル不要）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使うモデル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自動ルーター（Anthropic含む複数）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Claude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統治／境界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M365コンプライアンス（EDP / Purview / EUDB）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Bedrock・フォルダ制限・権限確認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A6326"/>
                </a:solidFill>
                <a:latin typeface="Meiryo"/>
              </a:rPr>
              <a:t>注意：</a:t>
            </a:r>
            <a:r>
              <a:rPr sz="1300" b="0">
                <a:solidFill>
                  <a:srgbClr val="232830"/>
                </a:solidFill>
                <a:latin typeface="Meiryo"/>
              </a:rPr>
              <a:t>「Cowork」は両社が使う名称（必ず社名を冠す）。Copilotも内部でClaudeを利用可＝モデルは差別化軸にならない。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既存のMicrosoft世界に根ざし、社内データを自動活用したい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62656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特定のデータ/外部ツールを、独立した環境で完結させたい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Claude Cowork（本件のEDINET→ダッシュボードはこちら）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14215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コーディングは真っ向勝負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Claude Code / OpenAI Codex / Gemini CLI から選ぶ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注意：</a:t>
            </a:r>
            <a:r>
              <a:rPr sz="1400" b="0">
                <a:solidFill>
                  <a:srgbClr val="D9DDE3"/>
                </a:solidFill>
                <a:latin typeface="Meiryo"/>
              </a:rPr>
              <a:t>“Cowork”は両社で使う名称／CopilotもClaude利用可／モデルの差より“どこに根ざすか”で選ぶ。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