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buffett-code.com/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BEDROCK ／ デスクトップアプリの CLAUDE CODE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1109441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複雑な有価証券報告書データを、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AIで数分でダッシュボードに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51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ハンズオン研修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4526280"/>
            <a:ext cx="214426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526280"/>
            <a:ext cx="214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題材：</a:t>
            </a:r>
            <a:pPr algn="ctr" indent="0" marL="0">
              <a:buNone/>
            </a:pPr>
            <a:r>
              <a:rPr lang="en-US" sz="13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EDINET の XBRL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75788" y="4526280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75788" y="45262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ゴール：</a:t>
            </a:r>
            <a:pPr algn="ctr" indent="0" marL="0">
              <a:buNone/>
            </a:pPr>
            <a:r>
              <a:rPr lang="en-US" sz="13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財務ダッシュボード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32604" y="4526280"/>
            <a:ext cx="177393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32604" y="452628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体験：</a:t>
            </a:r>
            <a:pPr algn="ctr" indent="0" marL="0">
              <a:buNone/>
            </a:pPr>
            <a:r>
              <a:rPr lang="en-US" sz="13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スキル化 → 横展開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本日の流れ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まず触ってみる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4086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340864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今回のゴール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127248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課題と準備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913632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XBRL（覚えなくてよい）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70001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700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00016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1社目を作る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24448" y="15544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2444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055968" y="1554480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スキルで横展開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24448" y="234086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24448" y="2340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7055968" y="2340864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会計基準への対応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324448" y="31272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24448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055968" y="3127248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 とメモリ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324448" y="391363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24448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7055968" y="3913632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自分でやってみる（課題）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324448" y="470001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24448" y="4700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7055968" y="4700016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講師 自己紹介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お名前 ／ 所属・役割 ／ Claude・生成AIでやってきたこと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2103120"/>
            <a:ext cx="301752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595360" y="210312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👤</a:t>
            </a:r>
            <a:endParaRPr lang="en-US" sz="9000" dirty="0"/>
          </a:p>
        </p:txBody>
      </p:sp>
      <p:sp>
        <p:nvSpPr>
          <p:cNvPr id="7" name="Text 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00 ・ はじめに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今回の目的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日常業務を Claude で効率化し、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複雑な処理は AI に任せる感覚を持ち帰る。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345429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374904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434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複雑さは AI に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7548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調べる・分岐・整形をまとめて任せる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8698" y="3566160"/>
            <a:ext cx="345429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68698" y="374904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🛠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51578" y="43434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手を動かすのは手元PC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51578" y="47548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ファイル操作もコマンドも自分のPCで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8757" y="3566160"/>
            <a:ext cx="345429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188757" y="374904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371637" y="434340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一度作れば再利用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71637" y="475488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スキル化して別の会社にも横展開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00 ・ 環境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実行環境 ─ モデルは AWS の Bedrock で動く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1554480"/>
          </a:xfrm>
          <a:prstGeom prst="roundRect">
            <a:avLst>
              <a:gd name="adj" fmla="val 5882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1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 Bedrock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5A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（AWS のフルマネージド生成AI基盤）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965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東京リージョン ／ 認証は Entra ID 連携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531860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56616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🧠 考える　</a:t>
            </a:r>
            <a:pPr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 クラウド(Bedrock)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1480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モデルはすべて AWS 上で実行される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24448" y="3383280"/>
            <a:ext cx="531860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98768" y="356616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🛠 動かす　</a:t>
            </a:r>
            <a:pPr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 手元PC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98768" y="411480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ファイル操作・コマンドは自分のPCで実行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502920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制約：</a:t>
            </a:r>
            <a:pPr indent="0" marL="0">
              <a:buNone/>
            </a:pPr>
            <a:r>
              <a:rPr lang="en-US" sz="15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MCP を利用した外部サービス連携は不可（pip やデータ取得は手元PCの通信次第で別問題）。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全体の流れ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pic>
        <p:nvPicPr>
          <p:cNvPr id="5" name="Image 0" descr="/home/claude/assets/研修フロー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9101" y="1737360"/>
            <a:ext cx="8813494" cy="4114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・ ウォームアップ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まず触ってみる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2286000"/>
          </a:xfrm>
          <a:prstGeom prst="roundRect">
            <a:avLst>
              <a:gd name="adj" fmla="val 3200"/>
            </a:avLst>
          </a:prstGeom>
          <a:solidFill>
            <a:srgbClr val="FBEFD6"/>
          </a:solidFill>
          <a:ln w="19050">
            <a:solidFill>
              <a:srgbClr val="E4CB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45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21408"/>
            <a:ext cx="1054577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金の重量(g)と純度(%)を入力すると買取概算額を計算できる、単一HTMLのツールを作ってください。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・外部ライブラリは使わず、1ファイル(index.html)で完結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・入力はフォーム、計算はその場で表示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・グラム単価は仮に 9,000円/g をコード内の定数に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作成後、ローカルで開いて動作を確認する手順も教えてください。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77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困った時の助け舟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891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 Claude に聞いてみる</a:t>
            </a:r>
            <a:endParaRPr lang="en-US" sz="1700" dirty="0"/>
          </a:p>
          <a:p>
            <a:pPr algn="l" marL="177800" indent="-177800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完璧なプロンプトを目指さない（対話で育てる）</a:t>
            </a:r>
            <a:endParaRPr lang="en-US" sz="1700" dirty="0"/>
          </a:p>
          <a:p>
            <a:pPr algn="l" marL="177800" indent="-177800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確認が入ることがある ← AIの時代でも人間が判断する場面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・ ウォームアップ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この一言で、動くツールができる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7548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pic>
        <p:nvPicPr>
          <p:cNvPr id="5" name="Image 0" descr="/home/claude/assets/cal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4389120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52160" y="2103120"/>
            <a:ext cx="5790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自然言語 → 動くもの → その場で確認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2926080"/>
            <a:ext cx="57908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4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数十秒で、単一HTMLのツールが完成</a:t>
            </a:r>
            <a:endParaRPr lang="en-US" sz="1800" dirty="0"/>
          </a:p>
          <a:p>
            <a:pPr algn="l" marL="177800" indent="-177800">
              <a:spcAft>
                <a:spcPts val="14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ブラウザで開いてすぐ動作確認</a:t>
            </a:r>
            <a:endParaRPr lang="en-US" sz="1800" dirty="0"/>
          </a:p>
          <a:p>
            <a:pPr algn="l" marL="177800" indent="-177800">
              <a:spcAft>
                <a:spcPts val="14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「作って→直して→また作る」を対話で回す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・ ゴール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今回のゴール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EDINET にある複雑な有価証券報告書ファイル（XBRL）から、</a:t>
            </a:r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綺麗な財務ダッシュボード</a:t>
            </a:r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を作る。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完成イメージ →（右のサンプル）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人が扱うには複雑すぎる XBRL を、AIでまとめて可視化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商用イメージの参照：</a:t>
            </a:r>
            <a:pPr indent="0" marL="0">
              <a:buNone/>
            </a:pPr>
            <a:r>
              <a:rPr lang="en-US" sz="1700" b="1" u="sng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バフェットコード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526280"/>
            <a:ext cx="5669280" cy="1417320"/>
          </a:xfrm>
          <a:prstGeom prst="roundRect">
            <a:avLst>
              <a:gd name="adj" fmla="val 6452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452628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Copilot との住み分け：</a:t>
            </a:r>
            <a:pPr indent="0" marL="0">
              <a:buNone/>
            </a:pPr>
            <a:r>
              <a:rPr lang="en-US" sz="15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市民開発・Office 連携は Copilot ／ 自律エージェント・複雑データ処理・コード生成は Claude Code。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1554480"/>
            <a:ext cx="5150815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pic>
        <p:nvPicPr>
          <p:cNvPr id="10" name="Image 0" descr="/home/claude/assets/dashboard_sl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283537"/>
            <a:ext cx="4931359" cy="302244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92240" y="6053328"/>
            <a:ext cx="5150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完成ダッシュボード（ＡＲＥホールディングス）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・ 準備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配布物の共有と、作業フォルダの設定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1860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配布物を受け取る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67852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4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各社の有価証券報告書 XBRL 一式</a:t>
            </a:r>
            <a:endParaRPr lang="en-US" sz="1700" dirty="0"/>
          </a:p>
          <a:p>
            <a:pPr algn="l" marL="177800" indent="-177800">
              <a:spcAft>
                <a:spcPts val="14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フォルダ名：data/&lt;社名&gt;_&lt;EDINETコード&gt;/</a:t>
            </a:r>
            <a:endParaRPr lang="en-US" sz="1700" dirty="0"/>
          </a:p>
          <a:p>
            <a:pPr algn="l" marL="177800" indent="-177800">
              <a:spcAft>
                <a:spcPts val="14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（例）data/トヨタ自動車_E02144/</a:t>
            </a:r>
            <a:endParaRPr lang="en-US" sz="1700" dirty="0"/>
          </a:p>
          <a:p>
            <a:pPr algn="l" marL="177800" indent="-177800">
              <a:spcAft>
                <a:spcPts val="14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コピペ用プロンプト集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24448" y="1554480"/>
            <a:ext cx="531860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44488" y="178308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作業フォルダを Claude に教える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44488" y="2331720"/>
            <a:ext cx="467852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4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配布データを置いたフォルダを開く</a:t>
            </a:r>
            <a:endParaRPr lang="en-US" sz="1700" dirty="0"/>
          </a:p>
          <a:p>
            <a:pPr algn="l" marL="177800" indent="-177800">
              <a:spcAft>
                <a:spcPts val="14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そこを起点に Claude Code が読み書きする</a:t>
            </a:r>
            <a:endParaRPr lang="en-US" sz="1700" dirty="0"/>
          </a:p>
          <a:p>
            <a:pPr algn="l" marL="177800" indent="-177800">
              <a:spcAft>
                <a:spcPts val="14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以降は「このフォルダの◯◯を…」で指示できる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・ XBRL（覚えなくてよい）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そもそも XBRL とは？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有価証券報告書などの数字を、</a:t>
            </a:r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コンピュータが読めるようにタグ付けした形式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318608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880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👤 人にとっては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74720"/>
            <a:ext cx="467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タグや定義が大量で読みづらい</a:t>
            </a:r>
            <a:endParaRPr lang="en-US" sz="1700" dirty="0"/>
          </a:p>
          <a:p>
            <a:pPr algn="l" marL="177800" indent="-177800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「どの数字が何か」が一目で分からない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24448" y="2651760"/>
            <a:ext cx="5318608" cy="3017520"/>
          </a:xfrm>
          <a:prstGeom prst="roundRect">
            <a:avLst>
              <a:gd name="adj" fmla="val 3030"/>
            </a:avLst>
          </a:prstGeom>
          <a:solidFill>
            <a:srgbClr val="E8F0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44488" y="2880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🤖 AI にとっては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44488" y="3474720"/>
            <a:ext cx="46785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タグが付いているので機械処理しやすい</a:t>
            </a:r>
            <a:endParaRPr lang="en-US" sz="1700" dirty="0"/>
          </a:p>
          <a:p>
            <a:pPr algn="l" marL="177800" indent="-177800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狙った数字を正確に取り出せる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人には辛い形式だからこそ、AI が力を発揮する。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・ XBRL（覚えなくてよい）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XBRL の構成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494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pic>
        <p:nvPicPr>
          <p:cNvPr id="5" name="Image 0" descr="/home/claude/assets/xbrl-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360" y="1691640"/>
            <a:ext cx="6096000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63840" y="1737360"/>
            <a:ext cx="37792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タクソノミ（辞書・型）＋ インスタンス（実データ .xbrl）＝ XBRL</a:t>
            </a:r>
            <a:endParaRPr lang="en-US" sz="1600" dirty="0"/>
          </a:p>
          <a:p>
            <a:pPr algn="l" marL="177800" indent="-177800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数値の実体はファクト。「どの期・連結/個別か」はコンテキストで決まる</a:t>
            </a:r>
            <a:endParaRPr lang="en-US" sz="1600" dirty="0"/>
          </a:p>
          <a:p>
            <a:pPr algn="l" marL="177800" indent="-177800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取得は 手段1＝Web 手動DL（キー不要）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863840" y="4572000"/>
            <a:ext cx="3779215" cy="1280160"/>
          </a:xfrm>
          <a:prstGeom prst="roundRect">
            <a:avLst>
              <a:gd name="adj" fmla="val 7143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092440" y="4572000"/>
            <a:ext cx="33220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当日ハマる筆頭：</a:t>
            </a:r>
            <a:pPr indent="0" marL="0">
              <a:buNone/>
            </a:pPr>
            <a:r>
              <a:rPr lang="en-US" sz="1500" b="1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証券コードは5桁（4桁＋末尾0）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・ XBRL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1つのデータはこう書かれている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EDE1"/>
          </a:solidFill>
          <a:ln w="12700">
            <a:solidFill>
              <a:srgbClr val="E7DE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&lt;jpcrp_cor:RevenueIFRSSummaryOfBusinessResults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contextRef="CurrentYearDuration" unitRef="JPY"&gt;569992000000&lt;/…&gt;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要するに → </a:t>
            </a:r>
            <a:pPr indent="0" marL="0">
              <a:buNone/>
            </a:pPr>
            <a:r>
              <a:rPr lang="en-US" sz="20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「当期の売上は 約5,700億円」</a:t>
            </a:r>
            <a:pPr indent="0" marL="0">
              <a:buNone/>
            </a:pPr>
            <a:r>
              <a:rPr lang="en-US" sz="2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と書いてあるだけ。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「いつの数字か」（当期／前期）と「単位」（円）が、数字と別の場所にタグで付いている</a:t>
            </a:r>
            <a:endParaRPr lang="en-US" sz="1700" dirty="0"/>
          </a:p>
          <a:p>
            <a:pPr algn="l" marL="177800" indent="-177800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円で書かれているので、ダッシュボードでは ÷1億して「億円」で表示する</a:t>
            </a:r>
            <a:endParaRPr lang="en-US" sz="1700" dirty="0"/>
          </a:p>
          <a:p>
            <a:pPr algn="l" marL="177800" indent="-177800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1つ1つは単純。でも種類が多く別々の場所にあるので、人が全部たどるのは大変 → だから AI に任せる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4688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・ 演習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さあ、実際にやってみる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ここからは配布データを使って、自分の手で動かします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・ 演習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プロンプトで複雑な処理を Claude に実行させる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FBEFD6"/>
          </a:solidFill>
          <a:ln w="19050">
            <a:solidFill>
              <a:srgbClr val="E4CB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600200"/>
            <a:ext cx="9082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data/トヨタ自動車_E02144 の有価証券報告書XBRLを解析して、主要財務をダッシュボードにして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この一言で、裏では次の処理が自動で走る：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94415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pic>
        <p:nvPicPr>
          <p:cNvPr id="10" name="Image 0" descr="/home/claude/assets/処理パイプライン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648" y="3429000"/>
            <a:ext cx="7772400" cy="1325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507492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2960" y="50749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コスト作法：</a:t>
            </a:r>
            <a:pPr indent="0" marL="0">
              <a:buNone/>
            </a:pPr>
            <a:r>
              <a:rPr lang="en-US" sz="15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巨大な XBRL 本文を会話に貼らない。構成→対象タグ→スクリプト化→結果だけ確認。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・ 再利用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別の会社も、すぐ作れる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「次はソニーで」「次は日立で」— </a:t>
            </a:r>
            <a:pPr indent="0" marL="0">
              <a:buNone/>
            </a:pPr>
            <a:r>
              <a:rPr lang="en-US" sz="22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何社もやりたくなりますよね。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272888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743200"/>
            <a:ext cx="463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一度やった作業は…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46328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1社目は試行錯誤</a:t>
            </a:r>
            <a:endParaRPr lang="en-US" sz="1700" dirty="0"/>
          </a:p>
          <a:p>
            <a:pPr algn="l" marL="177800" indent="-177800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でも手順はもう分かっている</a:t>
            </a:r>
            <a:endParaRPr lang="en-US" sz="1700" dirty="0"/>
          </a:p>
          <a:p>
            <a:pPr algn="l" marL="177800" indent="-177800">
              <a:spcAft>
                <a:spcPts val="12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毎回同じ指示を打ち直すのは大変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70168" y="2468880"/>
            <a:ext cx="5272888" cy="2926080"/>
          </a:xfrm>
          <a:prstGeom prst="roundRect">
            <a:avLst>
              <a:gd name="adj" fmla="val 3125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90208" y="274320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手順を「道具」にまとめて再利用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90208" y="3429000"/>
            <a:ext cx="4632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690208" y="4343400"/>
            <a:ext cx="463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という仕組み。2社目以降は数分。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・ スキル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スキル＝手順書＋道具のパッケージ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852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6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作業の「やり方（手順書）」と「道具（スクリプト）」を1セットに</a:t>
            </a:r>
            <a:endParaRPr lang="en-US" sz="1800" dirty="0"/>
          </a:p>
          <a:p>
            <a:pPr algn="l" marL="177800" indent="-177800">
              <a:spcAft>
                <a:spcPts val="16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必要なときに Claude が自動で読み込んで実行</a:t>
            </a:r>
            <a:endParaRPr lang="en-US" sz="1800" dirty="0"/>
          </a:p>
          <a:p>
            <a:pPr algn="l" marL="177800" indent="-177800">
              <a:spcAft>
                <a:spcPts val="16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一度作れば、別の会社でもそのまま再利用・横展開</a:t>
            </a:r>
            <a:endParaRPr lang="en-US" sz="1800" dirty="0"/>
          </a:p>
          <a:p>
            <a:pPr algn="l" marL="177800" indent="-177800">
              <a:spcAft>
                <a:spcPts val="1600"/>
              </a:spcAft>
              <a:buSzPct val="100000"/>
              <a:buChar char="—"/>
            </a:pPr>
            <a:r>
              <a:rPr lang="en-US" sz="18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属人化を防ぐ“内製の資産”になる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1554480"/>
            <a:ext cx="4785055" cy="4480560"/>
          </a:xfrm>
          <a:prstGeom prst="roundRect">
            <a:avLst>
              <a:gd name="adj" fmla="val 1633"/>
            </a:avLst>
          </a:prstGeom>
          <a:solidFill>
            <a:srgbClr val="F3EDE1"/>
          </a:solidFill>
          <a:ln w="12700">
            <a:solidFill>
              <a:srgbClr val="E7DE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0" y="1737360"/>
            <a:ext cx="42364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skills/edinet-xbrl-dashboard/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SKILL.md      … 使い方の説明書（本体）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scripts/       … 道具（Python）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extract_financials.py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build_dashboard.py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assets/dashboard_template.html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・ スキル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スキルは、プロンプトで作れる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2194560"/>
          </a:xfrm>
          <a:prstGeom prst="roundRect">
            <a:avLst>
              <a:gd name="adj" fmla="val 3333"/>
            </a:avLst>
          </a:prstGeom>
          <a:solidFill>
            <a:srgbClr val="FBEFD6"/>
          </a:solidFill>
          <a:ln w="19050">
            <a:solidFill>
              <a:srgbClr val="E4CB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3736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12848"/>
            <a:ext cx="1054577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今やった「有価証券報告書XBRL → 主要財務の抽出 → ダッシュボード生成」の一連の手順を、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再利用できるスキルにまとめてください。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・入力（XBRLフォルダ）と出力（dashboard.html）を明記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・会社固有の値はハードコードせず、別の会社でもそのまま使えるように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作成後、このスキルの使い方（呼び出し方）も教えてください。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11094415" cy="1874520"/>
          </a:xfrm>
          <a:prstGeom prst="roundRect">
            <a:avLst>
              <a:gd name="adj" fmla="val 4878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416052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572000"/>
            <a:ext cx="104543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試行錯誤の成果を、そのまま“再利用できる資産”に変える</a:t>
            </a:r>
            <a:endParaRPr lang="en-US" sz="1600" dirty="0"/>
          </a:p>
          <a:p>
            <a:pPr algn="l" marL="177800" indent="-177800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次からは「このスキルで、この会社を」と一言でよい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・ 落とし穴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ちなみに… 会計基準は1種類じゃない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別の会社でやってみると──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同じ「売上」でも、会社によって科目名が違う。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5318608" cy="2103120"/>
          </a:xfrm>
          <a:prstGeom prst="roundRect">
            <a:avLst>
              <a:gd name="adj" fmla="val 4348"/>
            </a:avLst>
          </a:prstGeom>
          <a:solidFill>
            <a:srgbClr val="ECFDF5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352044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96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IFRS 採用の会社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11480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売上収益 / 税引前利益 / 親会社所有者持分 …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24448" y="3291840"/>
            <a:ext cx="5318608" cy="2103120"/>
          </a:xfrm>
          <a:prstGeom prst="roundRect">
            <a:avLst>
              <a:gd name="adj" fmla="val 4348"/>
            </a:avLst>
          </a:prstGeom>
          <a:solidFill>
            <a:srgbClr val="FFF7ED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44488" y="352044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580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日本基準 採用の会社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644488" y="411480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—"/>
            </a:pPr>
            <a:r>
              <a:rPr lang="en-US" sz="17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売上高 / 経常利益 / 純資産 …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配布17社にも、IFRS と 日本基準が混在している。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・ 会計基準への対応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会計基準が違っても、Claude がそのまま対応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18608" cy="2286000"/>
          </a:xfrm>
          <a:prstGeom prst="roundRect">
            <a:avLst>
              <a:gd name="adj" fmla="val 4000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人がやると…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678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基準を判定し、拾う項目を切り替える</a:t>
            </a:r>
            <a:endParaRPr lang="en-US" sz="1600" dirty="0"/>
          </a:p>
          <a:p>
            <a:pPr algn="l" marL="177800" indent="-177800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銀行など特殊な様式にも対応…</a:t>
            </a:r>
            <a:endParaRPr lang="en-US" sz="1600" dirty="0"/>
          </a:p>
          <a:p>
            <a:pPr algn="l" marL="177800" indent="-177800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5A504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知らずに実行して、エラーで気づく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24448" y="1554480"/>
            <a:ext cx="5318608" cy="2286000"/>
          </a:xfrm>
          <a:prstGeom prst="roundRect">
            <a:avLst>
              <a:gd name="adj" fmla="val 4000"/>
            </a:avLst>
          </a:prstGeom>
          <a:solidFill>
            <a:srgbClr val="E8F0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44488" y="17373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なら…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44488" y="2240280"/>
            <a:ext cx="4678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どの会社を指しても同じ操作でOK</a:t>
            </a:r>
            <a:endParaRPr lang="en-US" sz="1600" dirty="0"/>
          </a:p>
          <a:p>
            <a:pPr algn="l" marL="177800" indent="-177800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違いに“気づいて”対応してくれる</a:t>
            </a:r>
            <a:endParaRPr lang="en-US" sz="1600" dirty="0"/>
          </a:p>
          <a:p>
            <a:pPr algn="l" marL="177800" indent="-177800">
              <a:spcAft>
                <a:spcPts val="8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IFRSの会社も銀行も、続けて流せば両方出る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1094415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420624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立て付け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617720"/>
            <a:ext cx="10454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人間は「知らずに実行 → エラー」になりがちなところを、Claude は先に気づいて確認してくれる</a:t>
            </a:r>
            <a:endParaRPr lang="en-US" sz="1600" dirty="0"/>
          </a:p>
          <a:p>
            <a:pPr algn="l" marL="177800" indent="-177800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締めに「1社だけ原文と検算」＝任せつつ、人が確かめる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・ スキルを育てる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気づいた対応は、スキルに反映する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1828800"/>
          </a:xfrm>
          <a:prstGeom prst="roundRect">
            <a:avLst>
              <a:gd name="adj" fmla="val 4000"/>
            </a:avLst>
          </a:prstGeom>
          <a:solidFill>
            <a:srgbClr val="FBEFD6"/>
          </a:solidFill>
          <a:ln w="19050">
            <a:solidFill>
              <a:srgbClr val="E4CB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3736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A97C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37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プロンプト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12848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日本基準の会社で必要になった科目の対応を、edinet-xbrl-dashboard スキルに反映して、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A3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次からは自動で切り替わるようにしてください。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531860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393192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スキルが“育つ”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52628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対応を一度スキルに書けば恒久化</a:t>
            </a:r>
            <a:endParaRPr lang="en-US" sz="1600" dirty="0"/>
          </a:p>
          <a:p>
            <a:pPr algn="l" marL="177800" indent="-177800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次の会社からは、もう気にしなくてよい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24448" y="3703320"/>
            <a:ext cx="5318608" cy="2103120"/>
          </a:xfrm>
          <a:prstGeom prst="roundRect">
            <a:avLst>
              <a:gd name="adj" fmla="val 4348"/>
            </a:avLst>
          </a:prstGeom>
          <a:solidFill>
            <a:srgbClr val="FFF6E6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644488" y="393192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これが内製の効き目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44488" y="4526280"/>
            <a:ext cx="467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使うほどスキルが賢くなる</a:t>
            </a:r>
            <a:endParaRPr lang="en-US" sz="1600" dirty="0"/>
          </a:p>
          <a:p>
            <a:pPr algn="l" marL="177800" indent="-177800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チームの“資産”として貯まっていく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 ・ もう一歩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よりよいアウトプットのための仕組み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毎回うまく動かすために、Claude に “覚えさせる” 仕組みが2つある。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27288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74320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人が書く「決まり事」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40480"/>
            <a:ext cx="463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データの場所・採用ルール・出力先などを明記</a:t>
            </a:r>
            <a:endParaRPr lang="en-US" sz="1600" dirty="0"/>
          </a:p>
          <a:p>
            <a:pPr algn="l" marL="177800" indent="-177800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毎回指示しなくても品質が安定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70168" y="2468880"/>
            <a:ext cx="527288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90208" y="274320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690208" y="33832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が対話から自動で覚える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90208" y="3840480"/>
            <a:ext cx="4632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与えた修正や好みを学習ノートに蓄積</a:t>
            </a:r>
            <a:endParaRPr lang="en-US" sz="1600" dirty="0"/>
          </a:p>
          <a:p>
            <a:pPr algn="l" marL="177800" indent="-177800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使うほど自分の好みに馴染む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 ・ 決まり事を教える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作業フォルダに置くと起動時に自動で読み込まれる「前提メモ」。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943600" cy="2377440"/>
          </a:xfrm>
          <a:prstGeom prst="roundRect">
            <a:avLst>
              <a:gd name="adj" fmla="val 3077"/>
            </a:avLst>
          </a:prstGeom>
          <a:solidFill>
            <a:srgbClr val="F3EDE1"/>
          </a:solidFill>
          <a:ln w="12700">
            <a:solidFill>
              <a:srgbClr val="E7DE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このプロジェクトについて（例）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対象データ: EDINET の有報XBRL（./data/…）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採用方針: 連結・通期を優先。表示は億円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出力: ./output/ に成果物（単一HTML）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会計基準は自動判定。銀行は解釈に注意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0" y="1508760"/>
            <a:ext cx="4693615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269480" y="1737360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読み込み順（後ほど優先）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2286000"/>
            <a:ext cx="405353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管理ポリシー（組織）</a:t>
            </a:r>
            <a:endParaRPr lang="en-US" sz="1600" dirty="0"/>
          </a:p>
          <a:p>
            <a:pPr algn="l" marL="177800" indent="-177800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~/.claude/CLAUDE.md（個人）</a:t>
            </a:r>
            <a:endParaRPr lang="en-US" sz="1600" dirty="0"/>
          </a:p>
          <a:p>
            <a:pPr algn="l" marL="177800" indent="-177800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上位ディレクトリ</a:t>
            </a:r>
            <a:endParaRPr lang="en-US" sz="1600" dirty="0"/>
          </a:p>
          <a:p>
            <a:pPr algn="l" marL="177800" indent="-177800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./CLAUDE.md（プロジェクト）</a:t>
            </a:r>
            <a:endParaRPr lang="en-US" sz="1600" dirty="0"/>
          </a:p>
          <a:p>
            <a:pPr algn="l" marL="177800" indent="-177800">
              <a:spcAft>
                <a:spcPts val="10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./CLAUDE.local.md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5120640"/>
            <a:ext cx="4053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見せ方：「置く前／置いた後」で出力の質を比較。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 ・ 使うほど馴染む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メモリ（対話から自動で覚える）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943600" cy="1554480"/>
          </a:xfrm>
          <a:prstGeom prst="roundRect">
            <a:avLst>
              <a:gd name="adj" fmla="val 4706"/>
            </a:avLst>
          </a:prstGeom>
          <a:solidFill>
            <a:srgbClr val="F3EDE1"/>
          </a:solidFill>
          <a:ln w="12700">
            <a:solidFill>
              <a:srgbClr val="E7DE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~/.claude/projects/&lt;repo&gt;/memory/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MEMORY.md        （インデックス）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feedback_*.md 等 （トピック別）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/memory で確認・編集。既定でON、マシンローカル</a:t>
            </a:r>
            <a:endParaRPr lang="en-US" sz="1600" dirty="0"/>
          </a:p>
          <a:p>
            <a:pPr algn="l" marL="177800" indent="-177800">
              <a:spcAft>
                <a:spcPts val="1200"/>
              </a:spcAft>
              <a:buSzPct val="100000"/>
              <a:buChar char="—"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例：「金額は億円」と一度直すと次から反映される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481328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 との使い分け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874520"/>
          <a:ext cx="46936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752448"/>
                <a:gridCol w="175244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C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CLAUDE.md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C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メモリ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7C3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6F768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書き手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人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6F768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中身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前提・ルール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学習・好み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6F768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性質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git で共有・再現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3283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ローカル・自動</a:t>
                      </a:r>
                      <a:endParaRPr lang="en-US" sz="14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949440" y="4480560"/>
            <a:ext cx="4693615" cy="1371600"/>
          </a:xfrm>
          <a:prstGeom prst="roundRect">
            <a:avLst>
              <a:gd name="adj" fmla="val 6667"/>
            </a:avLst>
          </a:prstGeom>
          <a:solidFill>
            <a:srgbClr val="FFF8EC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223760" y="4480560"/>
            <a:ext cx="41449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再現性は </a:t>
            </a:r>
            <a:pPr indent="0" marL="0">
              <a:buNone/>
            </a:pPr>
            <a:r>
              <a:rPr lang="en-US" sz="16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CLAUDE.md＋スキル</a:t>
            </a:r>
            <a:pPr indent="0" marL="0">
              <a:buNone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、快適さは </a:t>
            </a:r>
            <a:pPr indent="0" marL="0">
              <a:buNone/>
            </a:pPr>
            <a:r>
              <a:rPr lang="en-US" sz="1600" b="1" dirty="0">
                <a:solidFill>
                  <a:srgbClr val="2F6D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</a:t>
            </a:r>
            <a:pPr indent="0" marL="0">
              <a:buNone/>
            </a:pPr>
            <a:r>
              <a:rPr lang="en-US" sz="1600" dirty="0">
                <a:solidFill>
                  <a:srgbClr val="4A41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C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 ・ 自分でやってみる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 ─ 手を動かして広げる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🏢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好きな企業を追加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配布データ以外の会社でも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同じスキルで作ってみる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8698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368698" y="210312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✨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551578" y="310896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機能を足してみる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43018" y="384048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バフェットコードを参考に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指標やグラフを追加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88757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7DECE"/>
            </a:solidFill>
            <a:prstDash val="solid"/>
          </a:ln>
          <a:effectLst>
            <a:outerShdw sx="100000" sy="100000" kx="0" ky="0" algn="bl" rotWithShape="0" blurRad="101600" dist="38100" dir="5400000">
              <a:srgbClr val="BBAA88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188757" y="2103120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⚖️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371637" y="3108960"/>
            <a:ext cx="308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63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企業どうしを比較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63077" y="384048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2社を並べて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3283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強み・弱みを見比べる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研修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6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02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2200"/>
              </a:spcAft>
              <a:buSzPct val="100000"/>
              <a:buChar char="—"/>
            </a:pPr>
            <a:r>
              <a:rPr lang="en-US" sz="2400" dirty="0">
                <a:solidFill>
                  <a:srgbClr val="F2EC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人間が実行するには複雑な処理も、Claude なら自動化できる</a:t>
            </a:r>
            <a:endParaRPr lang="en-US" sz="2400" dirty="0"/>
          </a:p>
          <a:p>
            <a:pPr marL="203200" indent="-203200">
              <a:lnSpc>
                <a:spcPct val="120000"/>
              </a:lnSpc>
              <a:spcAft>
                <a:spcPts val="2200"/>
              </a:spcAft>
              <a:buSzPct val="100000"/>
              <a:buChar char="—"/>
            </a:pPr>
            <a:r>
              <a:rPr lang="en-US" sz="2400" dirty="0">
                <a:solidFill>
                  <a:srgbClr val="F2EC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アイデア次第で、普段の事務処理も大きく時間短縮できる</a:t>
            </a:r>
            <a:endParaRPr lang="en-US" sz="2400" dirty="0"/>
          </a:p>
          <a:p>
            <a:pPr marL="203200" indent="-203200">
              <a:lnSpc>
                <a:spcPct val="120000"/>
              </a:lnSpc>
              <a:spcAft>
                <a:spcPts val="2200"/>
              </a:spcAft>
              <a:buSzPct val="100000"/>
              <a:buChar char="—"/>
            </a:pPr>
            <a:r>
              <a:rPr lang="en-US" sz="2400" dirty="0">
                <a:solidFill>
                  <a:srgbClr val="F2EC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ビジュアライズして、これまで気づけなかった価値を生み出せる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B15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まず触る → 1社作る → スキルで横展開 → 自分の業務へ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ハンズオン研修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2026-09-17T10:00:12Z</dcterms:created>
  <dcterms:modified xsi:type="dcterms:W3CDTF">2026-09-17T10:00:12Z</dcterms:modified>
</cp:coreProperties>
</file>