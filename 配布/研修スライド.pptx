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11"/>
    <p:sldId id="284" r:id="rId35"/>
    <p:sldId id="262" r:id="rId8"/>
    <p:sldId id="263" r:id="rId9"/>
    <p:sldId id="264" r:id="rId10"/>
    <p:sldId id="266" r:id="rId12"/>
    <p:sldId id="268" r:id="rId14"/>
    <p:sldId id="267" r:id="rId13"/>
    <p:sldId id="269" r:id="rId15"/>
    <p:sldId id="270" r:id="rId16"/>
    <p:sldId id="283" r:id="rId34"/>
    <p:sldId id="271" r:id="rId17"/>
    <p:sldId id="272" r:id="rId18"/>
    <p:sldId id="273" r:id="rId19"/>
    <p:sldId id="285" r:id="rId36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1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45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168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7.xml"/><Relationship Id="rId12" Type="http://schemas.openxmlformats.org/officeDocument/2006/relationships/slide" Target="slides/slide12.xml"/><Relationship Id="rId13" Type="http://schemas.openxmlformats.org/officeDocument/2006/relationships/slide" Target="slides/slide14.xml"/><Relationship Id="rId14" Type="http://schemas.openxmlformats.org/officeDocument/2006/relationships/slide" Target="slides/slide13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2.xml"/><Relationship Id="rId21" Type="http://schemas.openxmlformats.org/officeDocument/2006/relationships/slide" Target="slides/slide23.xml"/><Relationship Id="rId22" Type="http://schemas.openxmlformats.org/officeDocument/2006/relationships/slide" Target="slides/slide24.xml"/><Relationship Id="rId23" Type="http://schemas.openxmlformats.org/officeDocument/2006/relationships/slide" Target="slides/slide25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28.xml"/><Relationship Id="rId27" Type="http://schemas.openxmlformats.org/officeDocument/2006/relationships/slide" Target="slides/slide29.xml"/><Relationship Id="rId28" Type="http://schemas.openxmlformats.org/officeDocument/2006/relationships/slide" Target="slides/slide30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17.xml"/><Relationship Id="rId35" Type="http://schemas.openxmlformats.org/officeDocument/2006/relationships/slide" Target="slides/slide8.xml"/><Relationship Id="rId36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699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Code&#29992;&#12469;&#12531;&#12503;&#12523;&#12503;&#12525;&#12531;&#12503;&#12488;.md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Code&#29992;&#12469;&#12531;&#12503;&#12523;&#12503;&#12525;&#12531;&#12503;&#12488;.md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buffett-code.com/" TargetMode="External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hyperlink" Target="Code&#29992;&#12469;&#12531;&#12503;&#12523;&#12503;&#12525;&#12531;&#12503;&#12488;.md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Code&#29992;&#12469;&#12531;&#12503;&#12523;&#12503;&#12525;&#12531;&#12503;&#12488;.md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Code&#29992;&#12469;&#12531;&#12503;&#12523;&#12503;&#12525;&#12531;&#12503;&#12488;.md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isclosure2.edinet-fsa.go.jp/" TargetMode="External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 BEDROCK ／ デスクトップアプリの CLAUDE CODE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1109441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複雑な有価証券報告書データを、</a:t>
            </a:r>
            <a:endParaRPr lang="en-US" sz="4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AIで数分でダッシュボードに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51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ハンズオン研修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4526280"/>
            <a:ext cx="203657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4526280"/>
            <a:ext cx="2036572" cy="457200"/>
          </a:xfrm>
          <a:prstGeom prst="rect">
            <a:avLst/>
          </a:prstGeom>
          <a:noFill/>
          <a:ln/>
        </p:spPr>
        <p:txBody>
          <a:bodyPr wrap="none" lIns="100000" tIns="0" rIns="10000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題材：</a:t>
            </a:r>
            <a:r>
              <a:rPr lang="en-US" sz="13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EDINET の XBRL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68092" y="4526280"/>
            <a:ext cx="2518004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2768092" y="4526280"/>
            <a:ext cx="2518004" cy="457200"/>
          </a:xfrm>
          <a:prstGeom prst="rect">
            <a:avLst/>
          </a:prstGeom>
          <a:noFill/>
          <a:ln/>
        </p:spPr>
        <p:txBody>
          <a:bodyPr wrap="none" lIns="100000" tIns="0" rIns="10000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ゴール：</a:t>
            </a:r>
            <a:r>
              <a:rPr lang="en-US" sz="13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財務ダッシュボード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68976" y="4526280"/>
            <a:ext cx="2304034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5468976" y="4526280"/>
            <a:ext cx="2304034" cy="457200"/>
          </a:xfrm>
          <a:prstGeom prst="rect">
            <a:avLst/>
          </a:prstGeom>
          <a:noFill/>
          <a:ln/>
        </p:spPr>
        <p:txBody>
          <a:bodyPr wrap="none" lIns="100000" tIns="0" rIns="10000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体験：</a:t>
            </a:r>
            <a:r>
              <a:rPr lang="en-US" sz="13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スキル化 → 横展開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本日の流れ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配布物と作業フォルダの設定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34086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3408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まず触ってみる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548640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1272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今回のゴール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91363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54864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9136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テーマの説明（XBRL）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70001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4700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000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実際にやってみる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324448" y="15544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 txBox="1"/>
          <p:nvPr/>
        </p:nvSpPr>
        <p:spPr>
          <a:xfrm>
            <a:off x="632444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055968" y="1554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繰り返しの作業はスキルで簡略化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324448" y="234086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 txBox="1"/>
          <p:nvPr/>
        </p:nvSpPr>
        <p:spPr>
          <a:xfrm>
            <a:off x="6324448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7055968" y="23408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人が気づけない差にも気づく（会計基準）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324448" y="312724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 txBox="1"/>
          <p:nvPr/>
        </p:nvSpPr>
        <p:spPr>
          <a:xfrm>
            <a:off x="6324448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7055968" y="31272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出力の質を上げる（CLAUDE.md／メモリ）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324448" y="391363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 txBox="1"/>
          <p:nvPr/>
        </p:nvSpPr>
        <p:spPr>
          <a:xfrm>
            <a:off x="6324448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7055968" y="39136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自分でやってみる（課題）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324448" y="470001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 txBox="1"/>
          <p:nvPr/>
        </p:nvSpPr>
        <p:spPr>
          <a:xfrm>
            <a:off x="6324448" y="4700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7055968" y="47000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講師 自己紹介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お名前 ／ 所属・役割 ／ Claude・生成AIでやってきたこと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2103120"/>
            <a:ext cx="301752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595360" y="210312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000000"/>
                </a:solidFill>
              </a:rPr>
              <a:t>👤</a:t>
            </a:r>
            <a:endParaRPr lang="en-US" sz="9000" dirty="0"/>
          </a:p>
        </p:txBody>
      </p:sp>
      <p:sp>
        <p:nvSpPr>
          <p:cNvPr id="7" name="Text 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00 ・ はじめに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今回の目的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今日のゴールは、「難しい・面倒」を AI に任せ、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自分の手元で成果物まで作りきる感覚を持ち帰る。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345429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3749040"/>
            <a:ext cx="34542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34340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難しい処理も AI に任せる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7548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調べる・場合分け・整形まで、まとめてお願いできる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8698" y="3566160"/>
            <a:ext cx="345429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4368698" y="3749040"/>
            <a:ext cx="34542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🖥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551578" y="434340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自分のPC・自分の業務で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51578" y="47548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特別な基盤はいらない。手元のファイルとコマンドで完結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8757" y="3566160"/>
            <a:ext cx="345429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8188757" y="3749040"/>
            <a:ext cx="34542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🔁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371637" y="434340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作った手順は資産になる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71637" y="47548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スキル化して別の会社・別の業務へ横展開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00 ・ 環境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実行環境 ─ モデルは AWS の Bedrock で動く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1554480"/>
          </a:xfrm>
          <a:prstGeom prst="roundRect">
            <a:avLst>
              <a:gd name="adj" fmla="val 5882"/>
            </a:avLst>
          </a:prstGeom>
          <a:solidFill>
            <a:srgbClr val="FFF6E6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783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91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 Bedrock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5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（AWS のフルマネージド生成AI基盤）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965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東京リージョン ／ 認証は Entra ID 連携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531860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356616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🧠 考える　</a:t>
            </a:r>
            <a:r>
              <a:rPr lang="en-US" sz="18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= クラウド(Bedrock)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11480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モデルはすべて AWS 上で実行される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24448" y="3383280"/>
            <a:ext cx="531860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6598768" y="356616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🛠 動かす　</a:t>
            </a:r>
            <a:r>
              <a:rPr lang="en-US" sz="18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= 手元PC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98768" y="411480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ファイル操作・コマンドは自分のPCで実行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FF8EC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822960" y="502920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制約：</a:t>
            </a:r>
            <a:r>
              <a:rPr lang="en-US" sz="15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MCP を利用した外部サービス連携は不可。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全体の流れ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1000" dirty="0"/>
          </a:p>
        </p:txBody>
      </p:sp>
      <p:pic>
        <p:nvPicPr>
          <p:cNvPr id="8" name="Picture 7" descr="flow_reorde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580" y="1737360"/>
            <a:ext cx="1061883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・ 準備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配布物の共有と、作業フォルダの設定</a:t>
            </a:r>
            <a:endParaRPr lang="en-US" sz="3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1000" dirty="0"/>
          </a:p>
        </p:txBody>
      </p:sp>
      <p:sp>
        <p:nvSpPr>
          <p:cNvPr id="12" name="Rounded Rectangle 11"/>
          <p:cNvSpPr/>
          <p:nvPr/>
        </p:nvSpPr>
        <p:spPr>
          <a:xfrm>
            <a:off x="548640" y="1554480"/>
            <a:ext cx="11091672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1783080"/>
            <a:ext cx="10424160" cy="4572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8A6326"/>
                </a:solidFill>
                <a:latin typeface="Meiryo"/>
              </a:rPr>
              <a:t>配布物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31720"/>
            <a:ext cx="10424160" cy="3657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32830"/>
                </a:solidFill>
                <a:latin typeface="Meiryo"/>
              </a:rPr>
              <a:t>演習で使う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743200"/>
            <a:ext cx="10058400" cy="4572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u="sng">
                <a:solidFill>
                  <a:srgbClr val="2F6DF6"/>
                </a:solidFill>
                <a:latin typeface="Meiryo"/>
                <a:hlinkClick r:id="rId3"/>
              </a:rPr>
              <a:t>▶ Code用サンプルプロンプト集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91840"/>
            <a:ext cx="10424160" cy="3657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32830"/>
                </a:solidFill>
                <a:latin typeface="Meiryo"/>
              </a:rPr>
              <a:t>参考資料（読む用）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57600"/>
            <a:ext cx="10058400" cy="9144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2830"/>
                </a:solidFill>
                <a:latin typeface="Meiryo"/>
              </a:rPr>
              <a:t>・ XBRL入門.html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32830"/>
                </a:solidFill>
                <a:latin typeface="Meiryo"/>
              </a:rPr>
              <a:t>・ スキルとスラッシュコマンド.html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32830"/>
                </a:solidFill>
                <a:latin typeface="Meiryo"/>
              </a:rPr>
              <a:t>・ モデル選択の考え方.html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32830"/>
                </a:solidFill>
                <a:latin typeface="Meiryo"/>
              </a:rPr>
              <a:t>・ 用語集.html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32830"/>
                </a:solidFill>
                <a:latin typeface="Meiryo"/>
              </a:rPr>
              <a:t>・ Code用サンプルプロンプト.html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21808"/>
            <a:ext cx="11091672" cy="914400"/>
          </a:xfrm>
          <a:prstGeom prst="roundRect">
            <a:avLst/>
          </a:prstGeom>
          <a:solidFill>
            <a:srgbClr val="FFF6E6"/>
          </a:solidFill>
          <a:ln w="12700">
            <a:solidFill>
              <a:srgbClr val="E7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655898"/>
            <a:ext cx="10424160" cy="246221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8A6326"/>
                </a:solidFill>
                <a:latin typeface="Meiryo"/>
              </a:rPr>
              <a:t>作業フォルダの設定：</a:t>
            </a:r>
            <a:r>
              <a:rPr sz="1600" b="0" dirty="0" err="1">
                <a:solidFill>
                  <a:srgbClr val="4A4131"/>
                </a:solidFill>
                <a:latin typeface="Meiryo"/>
              </a:rPr>
              <a:t>配布データ</a:t>
            </a:r>
            <a:r>
              <a:rPr lang="ja-JP" altLang="en-US" sz="1600" b="0">
                <a:solidFill>
                  <a:srgbClr val="4A4131"/>
                </a:solidFill>
                <a:latin typeface="Meiryo"/>
              </a:rPr>
              <a:t>の</a:t>
            </a:r>
            <a:r>
              <a:rPr sz="1600" b="0" dirty="0" err="1">
                <a:solidFill>
                  <a:srgbClr val="4A4131"/>
                </a:solidFill>
                <a:latin typeface="Meiryo"/>
              </a:rPr>
              <a:t>フォルダを</a:t>
            </a:r>
            <a:r>
              <a:rPr sz="1600" b="0" dirty="0">
                <a:solidFill>
                  <a:srgbClr val="4A4131"/>
                </a:solidFill>
                <a:latin typeface="Meiryo"/>
              </a:rPr>
              <a:t> Claude Code </a:t>
            </a:r>
            <a:r>
              <a:rPr sz="1600" b="0" dirty="0" err="1">
                <a:solidFill>
                  <a:srgbClr val="4A4131"/>
                </a:solidFill>
                <a:latin typeface="Meiryo"/>
              </a:rPr>
              <a:t>に教える（以降はそのフォルダ基点で指示できる</a:t>
            </a:r>
            <a:r>
              <a:rPr sz="1600" b="0" dirty="0">
                <a:solidFill>
                  <a:srgbClr val="4A4131"/>
                </a:solidFill>
                <a:latin typeface="Meiryo"/>
              </a:rPr>
              <a:t>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・ 準備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作業フォルダを Claude Code に教える</a:t>
            </a:r>
            <a:endParaRPr lang="en-US" sz="3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1000" dirty="0"/>
          </a:p>
        </p:txBody>
      </p:sp>
      <p:pic>
        <p:nvPicPr>
          <p:cNvPr id="18" name="Picture 17" descr="ss_17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970" y="1554480"/>
            <a:ext cx="6857754" cy="4206240"/>
          </a:xfrm>
          <a:prstGeom prst="rect">
            <a:avLst/>
          </a:prstGeom>
          <a:ln w="12700">
            <a:solidFill>
              <a:srgbClr val="E7DECE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548640" y="5870448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6F7683"/>
                </a:solidFill>
                <a:latin typeface="Meiryo"/>
              </a:rPr>
              <a:t>デスクトップアプリで、配布フォルダ（ハンズオン）を作業フォルダに指定する（赤枠）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・ ウォームアップ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まず触ってみる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2286000"/>
          </a:xfrm>
          <a:prstGeom prst="roundRect">
            <a:avLst>
              <a:gd name="adj" fmla="val 3200"/>
            </a:avLst>
          </a:prstGeom>
          <a:solidFill>
            <a:srgbClr val="FBEFD6"/>
          </a:solidFill>
          <a:ln w="19050">
            <a:solidFill>
              <a:srgbClr val="E4C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49808" y="16459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645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21408"/>
            <a:ext cx="1054577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金の重量(g)と純度(%)を入力すると買取概算額を計算できる、単一HTMLのツールを作ってください。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・外部ライブラリは使わず、1ファイル(index.html)で完結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・入力はフォーム、計算はその場で表示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・グラム単価は仮に 9,000円/g をコード内の定数に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作成後、ローカルで開いて動作を確認する手順も教えてください。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77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</a:t>
            </a:r>
            <a:r>
              <a:rPr lang="en-US" sz="18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: </a:t>
            </a:r>
            <a:r>
              <a:rPr lang="en-US" sz="1800" b="1" dirty="0" err="1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困った時の助け舟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891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7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</a:t>
            </a: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Claude に聞いてみる</a:t>
            </a:r>
            <a:endParaRPr lang="en-US" sz="1700" dirty="0"/>
          </a:p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7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完璧なプロンプトを目指さない（対話で育てる</a:t>
            </a: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）</a:t>
            </a:r>
            <a:endParaRPr lang="en-US" sz="1700" dirty="0"/>
          </a:p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7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確認が入ることがある</a:t>
            </a: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← AIの時代でも人間が判断する場面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8138160" y="713232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u="sng">
                <a:solidFill>
                  <a:srgbClr val="2F6DF6"/>
                </a:solidFill>
                <a:latin typeface="Meiryo"/>
                <a:hlinkClick r:id="rId3"/>
              </a:rPr>
              <a:t>▶ サンプルプロンプト集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・ ウォームアップ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</a:rPr>
              <a:t>まず触ってみる</a:t>
            </a:r>
            <a:endParaRPr lang="en-US" sz="31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</a:t>
            </a:r>
            <a:endParaRPr lang="en-US" sz="10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9CD24CB7-CB3F-49C6-1734-1AC7EC888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287" y="1316737"/>
            <a:ext cx="3585120" cy="51023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・ ゴール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今回のゴール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EDINET </a:t>
            </a:r>
            <a:r>
              <a:rPr lang="en-US" sz="21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にある複雑な有価証券報告書ファイルから、</a:t>
            </a:r>
            <a:r>
              <a:rPr lang="en-US" sz="2100" b="1" dirty="0" err="1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綺麗な財務ダッシュボード</a:t>
            </a:r>
            <a:r>
              <a:rPr lang="en-US" sz="21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を作る</a:t>
            </a:r>
            <a:r>
              <a:rPr lang="en-US" sz="21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完成イメージ →（右のサンプル）</a:t>
            </a:r>
            <a:endParaRPr lang="en-US" sz="17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7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人が扱うには複雑すぎるXBRLをAIでまとめて可視化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商用イメージの参照：</a:t>
            </a:r>
            <a:r>
              <a:rPr lang="en-US" sz="1700" b="1" u="sng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バフェットコード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52628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FFF8EC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452628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Copilot との住み分け：</a:t>
            </a:r>
            <a:r>
              <a:rPr lang="en-US" sz="15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市民開発・Office 連携は Copilot ／ 自律エージェント・複雑データ処理・コード生成は Claude Code。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1554480"/>
            <a:ext cx="5150815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0" descr="/home/claude/assets/dashboard_sl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283537"/>
            <a:ext cx="4931359" cy="302244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92240" y="6053328"/>
            <a:ext cx="51508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完成ダッシュボード（ＡＲＥホールディングス）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・ XBRL（覚えなくてよい）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そもそも XBRL とは？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有価証券報告書などの数字を、</a:t>
            </a:r>
            <a:r>
              <a:rPr lang="en-US" sz="22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コンピュータが読めるようにタグ付けした形式</a:t>
            </a:r>
            <a:r>
              <a:rPr lang="en-US" sz="22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5318608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👤 人にとっては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74720"/>
            <a:ext cx="4678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5A5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タグや定義が大量で読みづらい</a:t>
            </a:r>
            <a:endParaRPr lang="en-US" sz="17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5A5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「どの数字が何か」が一目で分からない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24448" y="2651760"/>
            <a:ext cx="5318608" cy="3017520"/>
          </a:xfrm>
          <a:prstGeom prst="roundRect">
            <a:avLst>
              <a:gd name="adj" fmla="val 3030"/>
            </a:avLst>
          </a:prstGeom>
          <a:solidFill>
            <a:srgbClr val="E8F0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6644488" y="288036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🤖 AI にとっては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644488" y="3474720"/>
            <a:ext cx="4678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タグが付いているので機械処理しやすい</a:t>
            </a:r>
            <a:endParaRPr lang="en-US" sz="17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狙った数字を正確に取り出せる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人には辛い形式だからこそ、AI が力を発揮する。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・ XBRL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1つのデータはこう書かれている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3EDE1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&lt;jpcrp_cor:RevenueIFRSSummaryOfBusinessResults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contextRef="CurrentYearDuration" unitRef="JPY"&gt;569992000000&lt;/…&gt;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要するに → </a:t>
            </a:r>
            <a:r>
              <a:rPr lang="en-US" sz="20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「当期の売上は 約5,700億円」</a:t>
            </a:r>
            <a:r>
              <a:rPr lang="en-US" sz="2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と書いてあるだけ。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188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「いつの数字か」（当期／前期）と「単位」（円）が、数字と別の場所にタグで付いている</a:t>
            </a:r>
            <a:endParaRPr lang="en-US" sz="17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円で書かれているので、ダッシュボードでは ÷1億して「億円」で表示する</a:t>
            </a:r>
            <a:endParaRPr lang="en-US" sz="17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1つ1つは単純。でも種類が多く別々の場所にあるので、人が全部たどるのは大変 → だから AI に任せる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・ XBRL（覚えなくてよい）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XBRL の構成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9494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/home/claude/assets/xbrl-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1691640"/>
            <a:ext cx="6096000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863840" y="1737360"/>
            <a:ext cx="37792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タクソノミ（辞書・型）＋ インスタンス（実データ .xbrl）＝ XBRL</a:t>
            </a:r>
            <a:endParaRPr lang="en-US" sz="16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数値の実体はファクト。「どの期・連結/個別か」はコンテキストで決まる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4688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・ 演習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実際にやってみる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ここからは配布データを使って、自分の手で動かします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・ 演習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プロンプトで複雑な処理を Claude に実行させる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FBEFD6"/>
          </a:solidFill>
          <a:ln w="19050">
            <a:solidFill>
              <a:srgbClr val="E4C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45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600200"/>
            <a:ext cx="9082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data/トヨタ自動車_E02144 の有価証券報告書XBRLから主要財務（連結・通期）を抽出して data.json にまとめ、その data.json から外部ライブラリなしの単一HTMLダッシュボード（dashboard.html）を作って。抽出・生成はスクリプトで行い、結果を見ながら仕上げて。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803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この指示で、裏では次の処理が自動で走る：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094415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0" descr="/home/claude/assets/処理パイプライン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648" y="3429000"/>
            <a:ext cx="7772400" cy="1325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07492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FF8EC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 txBox="1"/>
          <p:nvPr/>
        </p:nvSpPr>
        <p:spPr>
          <a:xfrm>
            <a:off x="822960" y="50749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コスト作法：</a:t>
            </a:r>
            <a:r>
              <a:rPr lang="en-US" sz="15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巨大な XBRL 本文を会話に貼らない。構成→対象タグ→スクリプト化→結果だけ確認。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8138160" y="713232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u="sng">
                <a:solidFill>
                  <a:srgbClr val="2F6DF6"/>
                </a:solidFill>
                <a:latin typeface="Meiryo"/>
                <a:hlinkClick r:id="rId4"/>
              </a:rPr>
              <a:t>▶ サンプルプロンプト集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・ 演習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できあがるのは、こんなダッシュボード</a:t>
            </a:r>
            <a:endParaRPr lang="en-US" sz="3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548640" y="6099048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6F7683"/>
                </a:solidFill>
                <a:latin typeface="Meiryo"/>
              </a:rPr>
              <a:t>トヨタ自動車株式会社（IFRS・連結）　｜　サンプル：配布/サンプル/トヨタ自動車_財務ダッシュボード.html</a:t>
            </a:r>
          </a:p>
        </p:txBody>
      </p:sp>
      <p:pic>
        <p:nvPicPr>
          <p:cNvPr id="20" name="Picture 19" descr="toyota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294" y="1417320"/>
            <a:ext cx="7327412" cy="4572000"/>
          </a:xfrm>
          <a:prstGeom prst="rect">
            <a:avLst/>
          </a:prstGeom>
          <a:ln w="12700">
            <a:solidFill>
              <a:srgbClr val="E7DECE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・ 再利用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別の会社も、すぐ作れる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「次はソニーで」「次は日立で」— </a:t>
            </a:r>
            <a:r>
              <a:rPr lang="en-US" sz="22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何社もやりたくなりますよね。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272888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一度やった作業は…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4632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1社目は試行錯誤</a:t>
            </a:r>
            <a:endParaRPr lang="en-US" sz="17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でも手順はもう分かっている</a:t>
            </a:r>
            <a:endParaRPr lang="en-US" sz="17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毎回同じ指示を打ち直すのは大変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70168" y="2468880"/>
            <a:ext cx="5272888" cy="2926080"/>
          </a:xfrm>
          <a:prstGeom prst="roundRect">
            <a:avLst>
              <a:gd name="adj" fmla="val 3125"/>
            </a:avLst>
          </a:prstGeom>
          <a:solidFill>
            <a:srgbClr val="FFF6E6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6690208" y="274320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手順を「道具」にまとめて再利用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690208" y="3429000"/>
            <a:ext cx="4632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690208" y="4343400"/>
            <a:ext cx="463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という仕組み。2社目以降は数分。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・ スキル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スキル＝手順書＋道具のパッケージ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852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600"/>
              </a:spcAft>
              <a:buSzPct val="100000"/>
              <a:buChar char="—"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作業の「やり方</a:t>
            </a: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手順書</a:t>
            </a: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)」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と「道具</a:t>
            </a: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スクリプト</a:t>
            </a:r>
            <a:r>
              <a:rPr lang="en-US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)</a:t>
            </a: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」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1セットに</a:t>
            </a:r>
            <a:endParaRPr lang="en-US" sz="1800" dirty="0"/>
          </a:p>
          <a:p>
            <a:pPr marL="177800" indent="-177800" algn="l">
              <a:spcAft>
                <a:spcPts val="1600"/>
              </a:spcAft>
              <a:buSzPct val="100000"/>
              <a:buChar char="—"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必要なときに</a:t>
            </a: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Claude が自動で読み込んで実行</a:t>
            </a:r>
            <a:endParaRPr lang="en-US" sz="1800" dirty="0"/>
          </a:p>
          <a:p>
            <a:pPr marL="177800" indent="-177800" algn="l">
              <a:spcAft>
                <a:spcPts val="1600"/>
              </a:spcAft>
              <a:buSzPct val="100000"/>
              <a:buChar char="—"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一度作れば、別の会社でもそのまま再利用・横展開</a:t>
            </a:r>
            <a:endParaRPr lang="en-US" sz="1800" dirty="0"/>
          </a:p>
          <a:p>
            <a:pPr marL="177800" indent="-177800" algn="l">
              <a:spcAft>
                <a:spcPts val="1600"/>
              </a:spcAft>
              <a:buSzPct val="100000"/>
              <a:buChar char="—"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属人化を防ぐ“内製の資産”になる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1554480"/>
            <a:ext cx="4785055" cy="4480560"/>
          </a:xfrm>
          <a:prstGeom prst="roundRect">
            <a:avLst>
              <a:gd name="adj" fmla="val 1633"/>
            </a:avLst>
          </a:prstGeom>
          <a:solidFill>
            <a:srgbClr val="F3EDE1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7132320" y="1737360"/>
            <a:ext cx="42364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skills/edinet-xbrl-dashboard/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SKILL.md      … 使い方の説明書（本体）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scripts/       … 道具（Python）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extract_financials.py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build_dashboard.py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assets/dashboard_template.html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・ スキル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スキルは、プロンプトで作れる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2194560"/>
          </a:xfrm>
          <a:prstGeom prst="roundRect">
            <a:avLst>
              <a:gd name="adj" fmla="val 3333"/>
            </a:avLst>
          </a:prstGeom>
          <a:solidFill>
            <a:srgbClr val="FBEFD6"/>
          </a:solidFill>
          <a:ln w="19050">
            <a:solidFill>
              <a:srgbClr val="E4C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49808" y="173736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737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12848"/>
            <a:ext cx="1054577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今やった「有価証券報告書XBRL → 主要財務の抽出 → ダッシュボード生成」の一連の手順を、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再利用できるスキルにまとめてください。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・入力（XBRLフォルダ）と出力（dashboard.html）を明記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・会社固有の値はハードコードせず、別の会社でもそのまま使えるように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作成後、このスキルの使い方（呼び出し方）も教えてください。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11094415" cy="1874520"/>
          </a:xfrm>
          <a:prstGeom prst="roundRect">
            <a:avLst>
              <a:gd name="adj" fmla="val 4878"/>
            </a:avLst>
          </a:prstGeom>
          <a:solidFill>
            <a:srgbClr val="FFF6E6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416052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572000"/>
            <a:ext cx="104543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試行錯誤の成果を、そのまま“再利用できる資産”に変える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次からは「このスキルで、この会社を」と一言でよい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8138160" y="713232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u="sng">
                <a:solidFill>
                  <a:srgbClr val="2F6DF6"/>
                </a:solidFill>
                <a:latin typeface="Meiryo"/>
                <a:hlinkClick r:id="rId3"/>
              </a:rPr>
              <a:t>▶ サンプルプロンプト集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・ スキル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スキルで、別の会社も（実行結果）</a:t>
            </a:r>
            <a:endParaRPr lang="en-US" sz="3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endParaRPr lang="en-US" sz="1000" dirty="0"/>
          </a:p>
        </p:txBody>
      </p:sp>
      <p:pic>
        <p:nvPicPr>
          <p:cNvPr id="18" name="Picture 17" descr="keyenc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141" y="1417320"/>
            <a:ext cx="7327412" cy="4572000"/>
          </a:xfrm>
          <a:prstGeom prst="rect">
            <a:avLst/>
          </a:prstGeom>
          <a:ln w="12700">
            <a:solidFill>
              <a:srgbClr val="E7DECE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548640" y="6099048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>
                <a:solidFill>
                  <a:srgbClr val="6F7683"/>
                </a:solidFill>
                <a:latin typeface="Meiryo"/>
              </a:rPr>
              <a:t>キーエンス（日本基準）　｜　1社目トヨタ（IFRS）と同じスキルで生成。科目の違い（純資産・経常利益 など）はスキルが自動対応。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・ 落とし穴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ちなみに… 会計基準は1種類じゃない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別の会社でやってみると──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同じ「売上」でも、会社によって科目名が違う。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5318608" cy="2103120"/>
          </a:xfrm>
          <a:prstGeom prst="roundRect">
            <a:avLst>
              <a:gd name="adj" fmla="val 4348"/>
            </a:avLst>
          </a:prstGeom>
          <a:solidFill>
            <a:srgbClr val="EAF1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IFRS 採用の会社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11480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売上収益 / 税引前利益 / 親会社所有者持分 …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24448" y="3291840"/>
            <a:ext cx="5318608" cy="2103120"/>
          </a:xfrm>
          <a:prstGeom prst="roundRect">
            <a:avLst>
              <a:gd name="adj" fmla="val 4348"/>
            </a:avLst>
          </a:prstGeom>
          <a:solidFill>
            <a:srgbClr val="F6EEDD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6644488" y="352044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日本基準 採用の会社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644488" y="411480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売上高 / 経常利益 / 純資産 …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配布17社にも、IFRS と 日本基準が混在している。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・ 会計基準への対応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会計基準が違っても、Claude がそのまま対応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18608" cy="2286000"/>
          </a:xfrm>
          <a:prstGeom prst="roundRect">
            <a:avLst>
              <a:gd name="adj" fmla="val 4000"/>
            </a:avLst>
          </a:prstGeom>
          <a:solidFill>
            <a:srgbClr val="FFF6E6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73736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人がやると…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4678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5A5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基準を判定し、拾う項目を切り替える</a:t>
            </a:r>
            <a:endParaRPr lang="en-US" sz="1600" dirty="0"/>
          </a:p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5A5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銀行など特殊な様式にも対応…</a:t>
            </a:r>
            <a:endParaRPr lang="en-US" sz="1600" dirty="0"/>
          </a:p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5A5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知らずに実行して、エラーで気づく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24448" y="1554480"/>
            <a:ext cx="5318608" cy="228600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6644488" y="173736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なら…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644488" y="2240280"/>
            <a:ext cx="4678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どの会社を指しても同じ操作でOK</a:t>
            </a:r>
            <a:endParaRPr lang="en-US" sz="1600" dirty="0"/>
          </a:p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違いに“気づいて”対応してくれる</a:t>
            </a:r>
            <a:endParaRPr lang="en-US" sz="1600" dirty="0"/>
          </a:p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IFRSの会社も銀行も、続けて流せば両方出る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11094415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420624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617720"/>
            <a:ext cx="104543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人間は「知らずに実行 → エラー」になりがちなところを、Claude は先に気づいて確認してくれる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締めに「1社だけ原文と検算」＝任せつつ、人が確かめる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・ スキルを育てる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気づいた対応は、スキルに反映する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1828800"/>
          </a:xfrm>
          <a:prstGeom prst="roundRect">
            <a:avLst>
              <a:gd name="adj" fmla="val 4000"/>
            </a:avLst>
          </a:prstGeom>
          <a:solidFill>
            <a:srgbClr val="FBEFD6"/>
          </a:solidFill>
          <a:ln w="19050">
            <a:solidFill>
              <a:srgbClr val="E4C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49808" y="173736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737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12848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日本基準の会社で必要になった科目の対応を、edinet-xbrl-dashboard スキルに反映して、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次からは自動で切り替わるようにしてください。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531860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393192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スキルが“育つ”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52628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対応を一度スキルに書けば恒久化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次の会社からは、もう気にしなくてよい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24448" y="3703320"/>
            <a:ext cx="5318608" cy="2103120"/>
          </a:xfrm>
          <a:prstGeom prst="roundRect">
            <a:avLst>
              <a:gd name="adj" fmla="val 4348"/>
            </a:avLst>
          </a:prstGeom>
          <a:solidFill>
            <a:srgbClr val="FFF6E6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6644488" y="393192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これが内製の効き目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44488" y="452628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使うほどスキルが賢くなる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チームの“資産”として貯まっていく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</a:t>
            </a:r>
            <a:endParaRPr lang="en-US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8138160" y="713232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u="sng">
                <a:solidFill>
                  <a:srgbClr val="2F6DF6"/>
                </a:solidFill>
                <a:latin typeface="Meiryo"/>
                <a:hlinkClick r:id="rId3"/>
              </a:rPr>
              <a:t>▶ サンプルプロンプト集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 ・ もう一歩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よりよいアウトプットのための仕組み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毎回うまく動かすために、Claude に “覚えさせる” 仕組みが2つある。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272888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人が書く「決まり事」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40480"/>
            <a:ext cx="4632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データの場所・採用ルール・出力先などを明記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毎回指示しなくても品質が安定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70168" y="2468880"/>
            <a:ext cx="5272888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6690208" y="274320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メモリ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690208" y="33832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が対話から自動で覚える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90208" y="3840480"/>
            <a:ext cx="4632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与えた修正や好みを学習ノートに蓄積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使うほど自分の好みに馴染む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 ・ 決まり事を教える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作業フォルダに置くと起動時に自動で読み込まれる「前提メモ」。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943600" cy="2377440"/>
          </a:xfrm>
          <a:prstGeom prst="roundRect">
            <a:avLst>
              <a:gd name="adj" fmla="val 3077"/>
            </a:avLst>
          </a:prstGeom>
          <a:solidFill>
            <a:srgbClr val="F3EDE1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このプロジェクトについて（例）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対象データ: EDINET の有報XBRL（./data/…）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採用方針: 連結・通期を優先。表示は億円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出力: ./output/ に成果物（単一HTML）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会計基準は自動判定。銀行は解釈に注意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49440" y="1508760"/>
            <a:ext cx="4693615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7269480" y="1737360"/>
            <a:ext cx="4053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読み込み順（後ほど優先）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2286000"/>
            <a:ext cx="405353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管理ポリシー（組織）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~/.claude/CLAUDE.md（個人）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上位ディレクトリ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./CLAUDE.md（プロジェクト）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./CLAUDE.local.md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5120640"/>
            <a:ext cx="4053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見せ方：「置く前／置いた後」で出力の質を比較。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 ・ 使うほど馴染む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メモリ（対話から自動で覚える）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943600" cy="1554480"/>
          </a:xfrm>
          <a:prstGeom prst="roundRect">
            <a:avLst>
              <a:gd name="adj" fmla="val 4706"/>
            </a:avLst>
          </a:prstGeom>
          <a:solidFill>
            <a:srgbClr val="F3EDE1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~/.claude/projects/&lt;repo&gt;/memory/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MEMORY.md        （インデックス）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feedback_*.md 等 （トピック別）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/memory で確認・編集。既定でON、マシンローカル</a:t>
            </a:r>
            <a:endParaRPr lang="en-US" sz="16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例：「金額は億円」と一度直すと次から反映される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481328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 との使い分け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874520"/>
          <a:ext cx="4693615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7C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CLAUDE.md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7C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メモリ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7C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6F768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書き手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6F768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中身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前提・ルール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学習・好み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6F768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性質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git で共有・再現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ローカル・自動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949440" y="4480560"/>
            <a:ext cx="4693615" cy="1371600"/>
          </a:xfrm>
          <a:prstGeom prst="roundRect">
            <a:avLst>
              <a:gd name="adj" fmla="val 6667"/>
            </a:avLst>
          </a:prstGeom>
          <a:solidFill>
            <a:srgbClr val="FFF8EC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 txBox="1"/>
          <p:nvPr/>
        </p:nvSpPr>
        <p:spPr>
          <a:xfrm>
            <a:off x="7223760" y="4480560"/>
            <a:ext cx="41449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再現性は </a:t>
            </a:r>
            <a:r>
              <a:rPr lang="en-US" sz="16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CLAUDE.md＋スキル</a:t>
            </a: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、快適さは </a:t>
            </a:r>
            <a:r>
              <a:rPr lang="en-US" sz="1600" b="1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メモリ</a:t>
            </a: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 ・ 自分でやってみる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 ─ 手を動かして広げる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54298" cy="40233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🏢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0896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好きな企業を追加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4048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配布データ以外の会社でも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同じスキルで作ってみる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68698" y="1737360"/>
            <a:ext cx="3454298" cy="40233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4368698" y="2103120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✨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551578" y="310896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機能を足してみる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43018" y="384048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バフェットコードを参考に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指標やグラフを追加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88757" y="1737360"/>
            <a:ext cx="3454298" cy="40233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8188757" y="2103120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⚖️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371637" y="310896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企業どうしを比較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63077" y="384048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2社を並べて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強み・弱みを見比べる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 ・ EDINET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配布外の会社は EDINET から取得</a:t>
            </a:r>
            <a:endParaRPr lang="en-US" sz="3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</a:t>
            </a:r>
            <a:endParaRPr lang="en-US" sz="1000" dirty="0"/>
          </a:p>
        </p:txBody>
      </p:sp>
      <p:sp>
        <p:nvSpPr>
          <p:cNvPr id="18" name="TextBox 17"/>
          <p:cNvSpPr txBox="1"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>
                <a:solidFill>
                  <a:srgbClr val="232830"/>
                </a:solidFill>
                <a:latin typeface="Meiryo"/>
              </a:rPr>
              <a:t>① 会社名・証券コードで検索（書類種別＝有価証券報告書）</a:t>
            </a:r>
          </a:p>
          <a:p>
            <a:r>
              <a:rPr sz="1400">
                <a:solidFill>
                  <a:srgbClr val="232830"/>
                </a:solidFill>
                <a:latin typeface="Meiryo"/>
              </a:rPr>
              <a:t>② 一覧の「XBRL」からZIPをダウンロード</a:t>
            </a:r>
          </a:p>
          <a:p>
            <a:r>
              <a:rPr sz="1400">
                <a:solidFill>
                  <a:srgbClr val="232830"/>
                </a:solidFill>
                <a:latin typeface="Meiryo"/>
              </a:rPr>
              <a:t>③ 解凍して data/ に配置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33172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>
                <a:solidFill>
                  <a:srgbClr val="232830"/>
                </a:solidFill>
                <a:latin typeface="Meiryo"/>
              </a:rPr>
              <a:t>🔗 </a:t>
            </a:r>
            <a:r>
              <a:rPr sz="1400" b="1" u="sng">
                <a:solidFill>
                  <a:srgbClr val="2F6DF6"/>
                </a:solidFill>
                <a:latin typeface="Meiryo"/>
                <a:hlinkClick r:id="rId2"/>
              </a:rPr>
              <a:t>https://disclosure2.edinet-fsa.go.jp/</a:t>
            </a:r>
          </a:p>
        </p:txBody>
      </p:sp>
      <p:pic>
        <p:nvPicPr>
          <p:cNvPr id="20" name="Picture 19" descr="ss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697480"/>
            <a:ext cx="4434840" cy="3489252"/>
          </a:xfrm>
          <a:prstGeom prst="rect">
            <a:avLst/>
          </a:prstGeom>
          <a:ln w="9525">
            <a:solidFill>
              <a:srgbClr val="E7DECE"/>
            </a:solidFill>
          </a:ln>
        </p:spPr>
      </p:pic>
      <p:pic>
        <p:nvPicPr>
          <p:cNvPr id="21" name="Picture 20" descr="ss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6735" y="2697480"/>
            <a:ext cx="4434840" cy="3489252"/>
          </a:xfrm>
          <a:prstGeom prst="rect">
            <a:avLst/>
          </a:prstGeom>
          <a:ln w="9525">
            <a:solidFill>
              <a:srgbClr val="E7DECE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960120" y="6232452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F7683"/>
                </a:solidFill>
                <a:latin typeface="Meiryo"/>
              </a:rPr>
              <a:t>① 書類簡易検索（トップページ）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6735" y="6232452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F7683"/>
                </a:solidFill>
                <a:latin typeface="Meiryo"/>
              </a:rPr>
              <a:t>②「XBRL」からダウンロード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02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2200"/>
              </a:spcAft>
              <a:buSzPct val="100000"/>
              <a:buChar char="—"/>
            </a:pPr>
            <a:r>
              <a:rPr lang="en-US" sz="2400" dirty="0">
                <a:solidFill>
                  <a:srgbClr val="F2EC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人間が実行するには複雑な処理も、Claude なら自動化できる</a:t>
            </a:r>
            <a:endParaRPr lang="en-US" sz="2400" dirty="0"/>
          </a:p>
          <a:p>
            <a:pPr marL="203200" indent="-203200">
              <a:lnSpc>
                <a:spcPct val="120000"/>
              </a:lnSpc>
              <a:spcAft>
                <a:spcPts val="2200"/>
              </a:spcAft>
              <a:buSzPct val="100000"/>
              <a:buChar char="—"/>
            </a:pPr>
            <a:r>
              <a:rPr lang="en-US" sz="2400" dirty="0">
                <a:solidFill>
                  <a:srgbClr val="F2EC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アイデア次第で、普段の事務処理も大きく時間短縮できる</a:t>
            </a:r>
            <a:endParaRPr lang="en-US" sz="2400" dirty="0"/>
          </a:p>
          <a:p>
            <a:pPr marL="203200" indent="-203200">
              <a:lnSpc>
                <a:spcPct val="120000"/>
              </a:lnSpc>
              <a:spcAft>
                <a:spcPts val="2200"/>
              </a:spcAft>
              <a:buSzPct val="100000"/>
              <a:buChar char="—"/>
            </a:pPr>
            <a:r>
              <a:rPr lang="en-US" sz="2400" dirty="0">
                <a:solidFill>
                  <a:srgbClr val="F2EC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ビジュアライズして、これまで気づけなかった価値を生み出せる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B1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まず触る → 1社作る → スキルで横展開 → 自分の業務へ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A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ハンズオン研修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1324</Words>
  <Application>Microsoft Macintosh PowerPoint</Application>
  <PresentationFormat>ワイド画面</PresentationFormat>
  <Paragraphs>327</Paragraphs>
  <Slides>27</Slides>
  <Notes>26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31" baseType="lpstr">
      <vt:lpstr>Meiryo</vt:lpstr>
      <vt:lpstr>Arial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板倉　翔太</cp:lastModifiedBy>
  <cp:revision>5</cp:revision>
  <dcterms:created xsi:type="dcterms:W3CDTF">2026-09-17T10:00:12Z</dcterms:created>
  <dcterms:modified xsi:type="dcterms:W3CDTF">2026-09-18T05:26:21Z</dcterms:modified>
</cp:coreProperties>
</file>