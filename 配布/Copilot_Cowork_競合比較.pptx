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6"/>
  </p:notesMasterIdLst>
  <p:sldIdLst>
    <p:sldId id="256" r:id="rId5"/>
    <p:sldId id="262" r:id="rId6"/>
    <p:sldId id="264" r:id="rId7"/>
    <p:sldId id="263" r:id="rId8"/>
    <p:sldId id="265" r:id="rId9"/>
    <p:sldId id="257" r:id="rId10"/>
    <p:sldId id="258" r:id="rId11"/>
    <p:sldId id="266" r:id="rId12"/>
    <p:sldId id="267" r:id="rId2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22748"/>
    <a:srgbClr val="012548"/>
    <a:srgbClr val="012648"/>
    <a:srgbClr val="677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73" autoAdjust="0"/>
    <p:restoredTop sz="86470" autoAdjust="0"/>
  </p:normalViewPr>
  <p:slideViewPr>
    <p:cSldViewPr snapToGrid="0">
      <p:cViewPr varScale="1">
        <p:scale>
          <a:sx n="154" d="100"/>
          <a:sy n="154" d="100"/>
        </p:scale>
        <p:origin x="240" y="688"/>
      </p:cViewPr>
      <p:guideLst/>
    </p:cSldViewPr>
  </p:slideViewPr>
  <p:outlineViewPr>
    <p:cViewPr>
      <p:scale>
        <a:sx n="33" d="100"/>
        <a:sy n="33" d="100"/>
      </p:scale>
      <p:origin x="0" y="-47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杉村　麻記子" userId="7b6cb1e1-ca39-4bf7-a670-9ae758fae17a" providerId="ADAL" clId="{F08030B0-55D8-42BA-A35F-5EDC85AE88F6}"/>
    <pc:docChg chg="delSld modSld">
      <pc:chgData name="杉村　麻記子" userId="7b6cb1e1-ca39-4bf7-a670-9ae758fae17a" providerId="ADAL" clId="{F08030B0-55D8-42BA-A35F-5EDC85AE88F6}" dt="2025-10-03T07:39:20.942" v="4" actId="1076"/>
      <pc:docMkLst>
        <pc:docMk/>
      </pc:docMkLst>
      <pc:sldChg chg="addSp modSp mod">
        <pc:chgData name="杉村　麻記子" userId="7b6cb1e1-ca39-4bf7-a670-9ae758fae17a" providerId="ADAL" clId="{F08030B0-55D8-42BA-A35F-5EDC85AE88F6}" dt="2025-10-03T07:39:20.942" v="4" actId="1076"/>
        <pc:sldMkLst>
          <pc:docMk/>
          <pc:sldMk cId="287944165" sldId="326"/>
        </pc:sldMkLst>
        <pc:spChg chg="add mod">
          <ac:chgData name="杉村　麻記子" userId="7b6cb1e1-ca39-4bf7-a670-9ae758fae17a" providerId="ADAL" clId="{F08030B0-55D8-42BA-A35F-5EDC85AE88F6}" dt="2025-10-03T07:39:20.942" v="4" actId="1076"/>
          <ac:spMkLst>
            <pc:docMk/>
            <pc:sldMk cId="287944165" sldId="326"/>
            <ac:spMk id="4" creationId="{261DA770-171D-0878-BBD4-ABC038BE8ED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B3B83-EABC-4039-9F7A-EC4B788C1C40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8D139-BD1B-4B66-BB08-DB0DB6B95E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281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8D139-BD1B-4B66-BB08-DB0DB6B95EC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0713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BrandPromis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7426" y="1989088"/>
            <a:ext cx="6170292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5306" y="5470206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5306" y="5930984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5306" y="3453206"/>
            <a:ext cx="6172412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 baseline="0">
                <a:solidFill>
                  <a:schemeClr val="bg2"/>
                </a:solidFill>
                <a:latin typeface="+mj-lt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62007915-F4F5-B5F4-7D86-F096B722CD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5306" y="5021958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EC5E5A87-055B-CC48-B155-1E58CEE1FD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05306" y="561890"/>
            <a:ext cx="4248976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1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227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randPromis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4B65B-0338-7BEC-DB85-C77E40F3B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345600"/>
            <a:ext cx="9360000" cy="364947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1" lang="ja-JP" altLang="en-US" sz="2800" b="1" i="0" kern="12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目次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BFF33CFC-0549-1543-73EC-446B3C671D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C2D53A55-D2D1-2FC9-17CB-D037E0C36C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Font typeface="Arial" panose="020B0604020202020204" pitchFamily="34" charset="0"/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457170" indent="0">
              <a:buNone/>
              <a:defRPr>
                <a:solidFill>
                  <a:schemeClr val="bg1"/>
                </a:solidFill>
              </a:defRPr>
            </a:lvl2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5BBBF76E-4B32-365C-5F2B-2ED1F2568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282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72219218-2BF5-6F59-A39D-2D14AA64DB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EE512878-A966-CEA2-FC3B-8C9E8A1CB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282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F7FAB665-AC8F-2C72-C947-3AB07CC1FA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8B6417D6-654D-3B96-1007-DEAECEFD0C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82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5B1B1BFE-AB5A-3082-779B-03D370242C9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79263F1A-F880-AF75-7AC3-3F6C23F719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C6202829-8413-3616-0EEE-5C30E27A25C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7" name="テキスト プレースホルダー 12">
            <a:extLst>
              <a:ext uri="{FF2B5EF4-FFF2-40B4-BE49-F238E27FC236}">
                <a16:creationId xmlns:a16="http://schemas.microsoft.com/office/drawing/2014/main" id="{44A1FB7E-AF88-C752-6C70-639109338A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C05BF193-6E26-AC8C-89E9-EFD28A7B29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96D897ED-6C29-32CC-9E0C-A98B237197E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9E7B7369-4B53-4C54-006E-CB7B544D342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0DBEA6BB-E5A1-EACF-2B35-FD0DEC24215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12D47016-60C8-2B2D-D9C9-E5162F8B9D9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60151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randPromis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DD520-9AEF-F30E-D910-19A35551EA38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4B143FC-CABC-9641-1F86-03195F7275A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999A443F-732A-B472-701F-E3FCA360DE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021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F23E55FC-F091-22F3-23B3-5313976295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97530" y="1736725"/>
            <a:ext cx="5580188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Clr>
                <a:schemeClr val="bg1"/>
              </a:buClr>
              <a:buFontTx/>
              <a:buNone/>
              <a:defRPr sz="2400" b="0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7A730699-D02B-17D3-E676-0A461999EA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345600"/>
            <a:ext cx="9360000" cy="364947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1" lang="ja-JP" altLang="en-US" sz="2800" b="1" i="0" kern="12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71696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randPromis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F48B94-E222-7D77-2CFF-9E2FB718F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53CC41-86F1-5FEB-59ED-3C83DAC49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67355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randPromis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B49D2075-5F46-8658-D08C-83AAD1EE0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5924" y="3471448"/>
            <a:ext cx="6171794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3C6615-4460-A918-DCD4-E3A933B13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5924" y="1921292"/>
            <a:ext cx="6171794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4F962E-989C-44C8-D7C4-364E76AA8CE8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9873948-0703-919A-CCC3-D30E5E5D2DAB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5994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1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675AF0F-7B87-9248-402A-36410A0B8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D05F00B-A01F-4E34-DFB1-FFDA344A1B1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8415C5B-2E93-D069-B675-2017D40F575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595AE3B8-559D-4355-5E2D-7214858418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975" indent="-180975" defTabSz="479968">
              <a:buFont typeface="Arial" panose="020B0604020202020204" pitchFamily="34" charset="0"/>
              <a:buChar char="•"/>
              <a:tabLst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62911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1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DBD829DC-0049-3F39-DBDB-7DA5131862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856" y="1270414"/>
            <a:ext cx="4948042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310E6BF0-BCEE-7DAB-3F79-2F0B87294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4529" y="1270414"/>
            <a:ext cx="4950615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EFA939F-E277-912C-B89E-E2784FE7CCE1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77001E-1F62-7C8A-1040-7F6370353716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CD246A4-20A9-4983-E3D8-F7845E4F5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73962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2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039158A-9C9D-D34B-0201-33A03E4B1F2D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437AEB-C021-E2F2-EE89-620ED1D0A22F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85CF175B-6024-9305-048C-39B5542FA5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DC4D89E1-6019-CD11-5098-6FDF8AC76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65738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2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5411DECF-C299-69A5-0451-1438965024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7200" y="1270800"/>
            <a:ext cx="4948042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F4F74A1-4514-B98B-404D-67FD74B138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585" y="1282919"/>
            <a:ext cx="4950615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3D03859-B735-5B46-EA88-4FE6F7498165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2843-D2AD-DFE5-DECC-ED205632FF2D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124C8BBD-F76E-BFF3-575B-EF57C8A46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72945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randPromis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683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2A6515A1-C749-A0BC-346F-9E9C625C5863}"/>
              </a:ext>
            </a:extLst>
          </p:cNvPr>
          <p:cNvGrpSpPr/>
          <p:nvPr userDrawn="1"/>
        </p:nvGrpSpPr>
        <p:grpSpPr>
          <a:xfrm>
            <a:off x="-2646410" y="0"/>
            <a:ext cx="2427336" cy="3886563"/>
            <a:chOff x="-2646410" y="0"/>
            <a:chExt cx="2427336" cy="3886563"/>
          </a:xfrm>
        </p:grpSpPr>
        <p:grpSp>
          <p:nvGrpSpPr>
            <p:cNvPr id="103" name="グループ化 102">
              <a:extLst>
                <a:ext uri="{FF2B5EF4-FFF2-40B4-BE49-F238E27FC236}">
                  <a16:creationId xmlns:a16="http://schemas.microsoft.com/office/drawing/2014/main" id="{19C9587B-15BF-A9AB-0C96-71EB75119A11}"/>
                </a:ext>
              </a:extLst>
            </p:cNvPr>
            <p:cNvGrpSpPr/>
            <p:nvPr userDrawn="1"/>
          </p:nvGrpSpPr>
          <p:grpSpPr>
            <a:xfrm>
              <a:off x="-2646407" y="4228"/>
              <a:ext cx="377678" cy="1861107"/>
              <a:chOff x="-3408415" y="-29139"/>
              <a:chExt cx="452007" cy="2227368"/>
            </a:xfrm>
          </p:grpSpPr>
          <p:grpSp>
            <p:nvGrpSpPr>
              <p:cNvPr id="146" name="グループ化 145">
                <a:extLst>
                  <a:ext uri="{FF2B5EF4-FFF2-40B4-BE49-F238E27FC236}">
                    <a16:creationId xmlns:a16="http://schemas.microsoft.com/office/drawing/2014/main" id="{B6FE1A51-6305-DC4F-77C3-52DABE489F12}"/>
                  </a:ext>
                </a:extLst>
              </p:cNvPr>
              <p:cNvGrpSpPr/>
              <p:nvPr userDrawn="1"/>
            </p:nvGrpSpPr>
            <p:grpSpPr>
              <a:xfrm>
                <a:off x="-3408415" y="123410"/>
                <a:ext cx="452007" cy="2074819"/>
                <a:chOff x="-2709812" y="0"/>
                <a:chExt cx="763449" cy="3504430"/>
              </a:xfrm>
            </p:grpSpPr>
            <p:sp>
              <p:nvSpPr>
                <p:cNvPr id="148" name="正方形/長方形 147">
                  <a:extLst>
                    <a:ext uri="{FF2B5EF4-FFF2-40B4-BE49-F238E27FC236}">
                      <a16:creationId xmlns:a16="http://schemas.microsoft.com/office/drawing/2014/main" id="{C5DBBDCB-3CE3-30FC-A7B9-01E60F0D3B6B}"/>
                    </a:ext>
                  </a:extLst>
                </p:cNvPr>
                <p:cNvSpPr/>
                <p:nvPr userDrawn="1"/>
              </p:nvSpPr>
              <p:spPr>
                <a:xfrm>
                  <a:off x="-2709812" y="0"/>
                  <a:ext cx="763449" cy="71680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9" name="正方形/長方形 148">
                  <a:extLst>
                    <a:ext uri="{FF2B5EF4-FFF2-40B4-BE49-F238E27FC236}">
                      <a16:creationId xmlns:a16="http://schemas.microsoft.com/office/drawing/2014/main" id="{B55946F3-4F27-B931-8272-0BE2CFD6E60E}"/>
                    </a:ext>
                  </a:extLst>
                </p:cNvPr>
                <p:cNvSpPr/>
                <p:nvPr userDrawn="1"/>
              </p:nvSpPr>
              <p:spPr>
                <a:xfrm>
                  <a:off x="-2709812" y="929207"/>
                  <a:ext cx="763449" cy="71680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50" name="正方形/長方形 149">
                  <a:extLst>
                    <a:ext uri="{FF2B5EF4-FFF2-40B4-BE49-F238E27FC236}">
                      <a16:creationId xmlns:a16="http://schemas.microsoft.com/office/drawing/2014/main" id="{236D03E7-F13E-9EBA-BD8C-AC69BCD60757}"/>
                    </a:ext>
                  </a:extLst>
                </p:cNvPr>
                <p:cNvSpPr/>
                <p:nvPr userDrawn="1"/>
              </p:nvSpPr>
              <p:spPr>
                <a:xfrm>
                  <a:off x="-2709812" y="1858417"/>
                  <a:ext cx="763449" cy="71680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51" name="正方形/長方形 150">
                  <a:extLst>
                    <a:ext uri="{FF2B5EF4-FFF2-40B4-BE49-F238E27FC236}">
                      <a16:creationId xmlns:a16="http://schemas.microsoft.com/office/drawing/2014/main" id="{DA49A960-13EB-D5D9-8D00-6EFE7F3E2818}"/>
                    </a:ext>
                  </a:extLst>
                </p:cNvPr>
                <p:cNvSpPr/>
                <p:nvPr userDrawn="1"/>
              </p:nvSpPr>
              <p:spPr>
                <a:xfrm>
                  <a:off x="-2709812" y="2787621"/>
                  <a:ext cx="763449" cy="71680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</p:grpSp>
          <p:sp>
            <p:nvSpPr>
              <p:cNvPr id="147" name="正方形/長方形 146">
                <a:extLst>
                  <a:ext uri="{FF2B5EF4-FFF2-40B4-BE49-F238E27FC236}">
                    <a16:creationId xmlns:a16="http://schemas.microsoft.com/office/drawing/2014/main" id="{7A7151D1-90FE-BC82-CEDE-BC2863D2D256}"/>
                  </a:ext>
                </a:extLst>
              </p:cNvPr>
              <p:cNvSpPr/>
              <p:nvPr userDrawn="1"/>
            </p:nvSpPr>
            <p:spPr>
              <a:xfrm>
                <a:off x="-3333738" y="-2913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1</a:t>
                </a:r>
                <a:endPara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游ゴシック Medium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04" name="グループ化 103">
              <a:extLst>
                <a:ext uri="{FF2B5EF4-FFF2-40B4-BE49-F238E27FC236}">
                  <a16:creationId xmlns:a16="http://schemas.microsoft.com/office/drawing/2014/main" id="{BB3B4968-03F7-EFB5-9D05-1226DCE43BC3}"/>
                </a:ext>
              </a:extLst>
            </p:cNvPr>
            <p:cNvGrpSpPr/>
            <p:nvPr userDrawn="1"/>
          </p:nvGrpSpPr>
          <p:grpSpPr>
            <a:xfrm>
              <a:off x="-1963191" y="0"/>
              <a:ext cx="377678" cy="1865335"/>
              <a:chOff x="-2590733" y="-34199"/>
              <a:chExt cx="452006" cy="2232435"/>
            </a:xfrm>
          </p:grpSpPr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40870C4B-4B8C-762F-1233-8CA263DD493D}"/>
                  </a:ext>
                </a:extLst>
              </p:cNvPr>
              <p:cNvGrpSpPr/>
              <p:nvPr userDrawn="1"/>
            </p:nvGrpSpPr>
            <p:grpSpPr>
              <a:xfrm>
                <a:off x="-2590733" y="123410"/>
                <a:ext cx="452006" cy="2074826"/>
                <a:chOff x="-1330808" y="19671"/>
                <a:chExt cx="763449" cy="3504430"/>
              </a:xfrm>
            </p:grpSpPr>
            <p:sp>
              <p:nvSpPr>
                <p:cNvPr id="142" name="正方形/長方形 141">
                  <a:extLst>
                    <a:ext uri="{FF2B5EF4-FFF2-40B4-BE49-F238E27FC236}">
                      <a16:creationId xmlns:a16="http://schemas.microsoft.com/office/drawing/2014/main" id="{07B4AAAF-C516-C67C-186D-AB136F2C776D}"/>
                    </a:ext>
                  </a:extLst>
                </p:cNvPr>
                <p:cNvSpPr/>
                <p:nvPr userDrawn="1"/>
              </p:nvSpPr>
              <p:spPr>
                <a:xfrm>
                  <a:off x="-1330808" y="19671"/>
                  <a:ext cx="763449" cy="71680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3" name="正方形/長方形 142">
                  <a:extLst>
                    <a:ext uri="{FF2B5EF4-FFF2-40B4-BE49-F238E27FC236}">
                      <a16:creationId xmlns:a16="http://schemas.microsoft.com/office/drawing/2014/main" id="{AABC157E-89C4-C3A2-79E3-A95F9497C9D7}"/>
                    </a:ext>
                  </a:extLst>
                </p:cNvPr>
                <p:cNvSpPr/>
                <p:nvPr userDrawn="1"/>
              </p:nvSpPr>
              <p:spPr>
                <a:xfrm>
                  <a:off x="-1330808" y="948878"/>
                  <a:ext cx="763449" cy="716808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4" name="正方形/長方形 143">
                  <a:extLst>
                    <a:ext uri="{FF2B5EF4-FFF2-40B4-BE49-F238E27FC236}">
                      <a16:creationId xmlns:a16="http://schemas.microsoft.com/office/drawing/2014/main" id="{3E8B0085-338C-84C0-240F-C5979C644520}"/>
                    </a:ext>
                  </a:extLst>
                </p:cNvPr>
                <p:cNvSpPr/>
                <p:nvPr userDrawn="1"/>
              </p:nvSpPr>
              <p:spPr>
                <a:xfrm>
                  <a:off x="-1330808" y="1878086"/>
                  <a:ext cx="763449" cy="716808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5" name="正方形/長方形 144">
                  <a:extLst>
                    <a:ext uri="{FF2B5EF4-FFF2-40B4-BE49-F238E27FC236}">
                      <a16:creationId xmlns:a16="http://schemas.microsoft.com/office/drawing/2014/main" id="{1EAE1E9D-4608-F208-B806-081AF05F2419}"/>
                    </a:ext>
                  </a:extLst>
                </p:cNvPr>
                <p:cNvSpPr/>
                <p:nvPr userDrawn="1"/>
              </p:nvSpPr>
              <p:spPr>
                <a:xfrm>
                  <a:off x="-1330808" y="2807293"/>
                  <a:ext cx="763449" cy="71680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</p:grpSp>
          <p:sp>
            <p:nvSpPr>
              <p:cNvPr id="141" name="正方形/長方形 140">
                <a:extLst>
                  <a:ext uri="{FF2B5EF4-FFF2-40B4-BE49-F238E27FC236}">
                    <a16:creationId xmlns:a16="http://schemas.microsoft.com/office/drawing/2014/main" id="{45281B4E-3FC9-2CAE-9D3A-531038B9295A}"/>
                  </a:ext>
                </a:extLst>
              </p:cNvPr>
              <p:cNvSpPr/>
              <p:nvPr userDrawn="1"/>
            </p:nvSpPr>
            <p:spPr>
              <a:xfrm>
                <a:off x="-2516059" y="-3419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2E766990-C27E-EA55-1781-F033EDF09B32}"/>
                </a:ext>
              </a:extLst>
            </p:cNvPr>
            <p:cNvGrpSpPr/>
            <p:nvPr userDrawn="1"/>
          </p:nvGrpSpPr>
          <p:grpSpPr>
            <a:xfrm>
              <a:off x="-2646410" y="2018118"/>
              <a:ext cx="377678" cy="1868445"/>
              <a:chOff x="-3408411" y="2381088"/>
              <a:chExt cx="452006" cy="2236157"/>
            </a:xfrm>
          </p:grpSpPr>
          <p:grpSp>
            <p:nvGrpSpPr>
              <p:cNvPr id="134" name="グループ化 133">
                <a:extLst>
                  <a:ext uri="{FF2B5EF4-FFF2-40B4-BE49-F238E27FC236}">
                    <a16:creationId xmlns:a16="http://schemas.microsoft.com/office/drawing/2014/main" id="{F2683BAA-BB59-78DB-06E7-869C1221F5D6}"/>
                  </a:ext>
                </a:extLst>
              </p:cNvPr>
              <p:cNvGrpSpPr/>
              <p:nvPr userDrawn="1"/>
            </p:nvGrpSpPr>
            <p:grpSpPr>
              <a:xfrm>
                <a:off x="-3408411" y="2542419"/>
                <a:ext cx="452006" cy="2074826"/>
                <a:chOff x="-1330809" y="3775503"/>
                <a:chExt cx="763449" cy="3504430"/>
              </a:xfrm>
            </p:grpSpPr>
            <p:sp>
              <p:nvSpPr>
                <p:cNvPr id="136" name="正方形/長方形 135">
                  <a:extLst>
                    <a:ext uri="{FF2B5EF4-FFF2-40B4-BE49-F238E27FC236}">
                      <a16:creationId xmlns:a16="http://schemas.microsoft.com/office/drawing/2014/main" id="{7D1A4794-6B14-F565-B081-495B32B5C4FF}"/>
                    </a:ext>
                  </a:extLst>
                </p:cNvPr>
                <p:cNvSpPr/>
                <p:nvPr userDrawn="1"/>
              </p:nvSpPr>
              <p:spPr>
                <a:xfrm>
                  <a:off x="-1330809" y="3775503"/>
                  <a:ext cx="763449" cy="716808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7" name="正方形/長方形 136">
                  <a:extLst>
                    <a:ext uri="{FF2B5EF4-FFF2-40B4-BE49-F238E27FC236}">
                      <a16:creationId xmlns:a16="http://schemas.microsoft.com/office/drawing/2014/main" id="{3DFEE7B0-E14B-4F30-E950-763555BBEE1F}"/>
                    </a:ext>
                  </a:extLst>
                </p:cNvPr>
                <p:cNvSpPr/>
                <p:nvPr userDrawn="1"/>
              </p:nvSpPr>
              <p:spPr>
                <a:xfrm>
                  <a:off x="-1330809" y="4704710"/>
                  <a:ext cx="763449" cy="716808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8" name="正方形/長方形 137">
                  <a:extLst>
                    <a:ext uri="{FF2B5EF4-FFF2-40B4-BE49-F238E27FC236}">
                      <a16:creationId xmlns:a16="http://schemas.microsoft.com/office/drawing/2014/main" id="{2FC9360E-B924-EA87-A03C-E03C9061289F}"/>
                    </a:ext>
                  </a:extLst>
                </p:cNvPr>
                <p:cNvSpPr/>
                <p:nvPr userDrawn="1"/>
              </p:nvSpPr>
              <p:spPr>
                <a:xfrm>
                  <a:off x="-1330809" y="5633918"/>
                  <a:ext cx="763449" cy="716808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9" name="正方形/長方形 138">
                  <a:extLst>
                    <a:ext uri="{FF2B5EF4-FFF2-40B4-BE49-F238E27FC236}">
                      <a16:creationId xmlns:a16="http://schemas.microsoft.com/office/drawing/2014/main" id="{8BD22451-53EC-469E-E205-88E7CA78C936}"/>
                    </a:ext>
                  </a:extLst>
                </p:cNvPr>
                <p:cNvSpPr/>
                <p:nvPr userDrawn="1"/>
              </p:nvSpPr>
              <p:spPr>
                <a:xfrm>
                  <a:off x="-1330809" y="6563125"/>
                  <a:ext cx="763449" cy="71680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35" name="正方形/長方形 134">
                <a:extLst>
                  <a:ext uri="{FF2B5EF4-FFF2-40B4-BE49-F238E27FC236}">
                    <a16:creationId xmlns:a16="http://schemas.microsoft.com/office/drawing/2014/main" id="{D582AC40-7A97-BBE5-3EE2-BA527C697A33}"/>
                  </a:ext>
                </a:extLst>
              </p:cNvPr>
              <p:cNvSpPr/>
              <p:nvPr userDrawn="1"/>
            </p:nvSpPr>
            <p:spPr>
              <a:xfrm>
                <a:off x="-3333738" y="2381088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5</a:t>
                </a:r>
                <a:endPara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游ゴシック Medium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3066F049-37DA-95B9-6155-1BBB19F2BF45}"/>
                </a:ext>
              </a:extLst>
            </p:cNvPr>
            <p:cNvGrpSpPr/>
            <p:nvPr userDrawn="1"/>
          </p:nvGrpSpPr>
          <p:grpSpPr>
            <a:xfrm>
              <a:off x="-2061270" y="2018118"/>
              <a:ext cx="573838" cy="1868445"/>
              <a:chOff x="-2708115" y="2381088"/>
              <a:chExt cx="686770" cy="2236157"/>
            </a:xfrm>
          </p:grpSpPr>
          <p:grpSp>
            <p:nvGrpSpPr>
              <p:cNvPr id="128" name="グループ化 127">
                <a:extLst>
                  <a:ext uri="{FF2B5EF4-FFF2-40B4-BE49-F238E27FC236}">
                    <a16:creationId xmlns:a16="http://schemas.microsoft.com/office/drawing/2014/main" id="{AD7F60A5-E7D5-8761-B432-943E2E8E9F01}"/>
                  </a:ext>
                </a:extLst>
              </p:cNvPr>
              <p:cNvGrpSpPr/>
              <p:nvPr userDrawn="1"/>
            </p:nvGrpSpPr>
            <p:grpSpPr>
              <a:xfrm>
                <a:off x="-2590735" y="2542419"/>
                <a:ext cx="452006" cy="2074826"/>
                <a:chOff x="-2709812" y="3727359"/>
                <a:chExt cx="763449" cy="3504430"/>
              </a:xfrm>
            </p:grpSpPr>
            <p:sp>
              <p:nvSpPr>
                <p:cNvPr id="130" name="正方形/長方形 129">
                  <a:extLst>
                    <a:ext uri="{FF2B5EF4-FFF2-40B4-BE49-F238E27FC236}">
                      <a16:creationId xmlns:a16="http://schemas.microsoft.com/office/drawing/2014/main" id="{E2AF2B24-2F6F-FB67-BB2F-4247C0F08AB5}"/>
                    </a:ext>
                  </a:extLst>
                </p:cNvPr>
                <p:cNvSpPr/>
                <p:nvPr userDrawn="1"/>
              </p:nvSpPr>
              <p:spPr>
                <a:xfrm>
                  <a:off x="-2709812" y="3727359"/>
                  <a:ext cx="763449" cy="716808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1" name="正方形/長方形 130">
                  <a:extLst>
                    <a:ext uri="{FF2B5EF4-FFF2-40B4-BE49-F238E27FC236}">
                      <a16:creationId xmlns:a16="http://schemas.microsoft.com/office/drawing/2014/main" id="{6427A5AE-FA19-A10B-C2DE-2DEECBF4A238}"/>
                    </a:ext>
                  </a:extLst>
                </p:cNvPr>
                <p:cNvSpPr/>
                <p:nvPr userDrawn="1"/>
              </p:nvSpPr>
              <p:spPr>
                <a:xfrm>
                  <a:off x="-2709812" y="4656566"/>
                  <a:ext cx="763449" cy="716808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2" name="正方形/長方形 131">
                  <a:extLst>
                    <a:ext uri="{FF2B5EF4-FFF2-40B4-BE49-F238E27FC236}">
                      <a16:creationId xmlns:a16="http://schemas.microsoft.com/office/drawing/2014/main" id="{1CAF8E8D-D934-9FDF-C688-38672487728E}"/>
                    </a:ext>
                  </a:extLst>
                </p:cNvPr>
                <p:cNvSpPr/>
                <p:nvPr userDrawn="1"/>
              </p:nvSpPr>
              <p:spPr>
                <a:xfrm>
                  <a:off x="-2709812" y="5585774"/>
                  <a:ext cx="763449" cy="7168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3" name="正方形/長方形 132">
                  <a:extLst>
                    <a:ext uri="{FF2B5EF4-FFF2-40B4-BE49-F238E27FC236}">
                      <a16:creationId xmlns:a16="http://schemas.microsoft.com/office/drawing/2014/main" id="{D159FC81-2728-81BE-B71E-F6D3D3238539}"/>
                    </a:ext>
                  </a:extLst>
                </p:cNvPr>
                <p:cNvSpPr/>
                <p:nvPr userDrawn="1"/>
              </p:nvSpPr>
              <p:spPr>
                <a:xfrm>
                  <a:off x="-2709812" y="6514981"/>
                  <a:ext cx="763449" cy="71680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29" name="正方形/長方形 128">
                <a:extLst>
                  <a:ext uri="{FF2B5EF4-FFF2-40B4-BE49-F238E27FC236}">
                    <a16:creationId xmlns:a16="http://schemas.microsoft.com/office/drawing/2014/main" id="{DCF544CF-1A01-E6C7-05D6-57979C5646DF}"/>
                  </a:ext>
                </a:extLst>
              </p:cNvPr>
              <p:cNvSpPr/>
              <p:nvPr userDrawn="1"/>
            </p:nvSpPr>
            <p:spPr>
              <a:xfrm>
                <a:off x="-2708115" y="2381088"/>
                <a:ext cx="686770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6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　</a:t>
                </a:r>
              </a:p>
            </p:txBody>
          </p:sp>
        </p:grp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0A5CED1E-AFBF-9F55-9F4C-69096769B199}"/>
                </a:ext>
              </a:extLst>
            </p:cNvPr>
            <p:cNvGrpSpPr/>
            <p:nvPr userDrawn="1"/>
          </p:nvGrpSpPr>
          <p:grpSpPr>
            <a:xfrm>
              <a:off x="-1279971" y="4228"/>
              <a:ext cx="377678" cy="1861107"/>
              <a:chOff x="-1773055" y="-29139"/>
              <a:chExt cx="452006" cy="2227375"/>
            </a:xfrm>
          </p:grpSpPr>
          <p:grpSp>
            <p:nvGrpSpPr>
              <p:cNvPr id="122" name="グループ化 121">
                <a:extLst>
                  <a:ext uri="{FF2B5EF4-FFF2-40B4-BE49-F238E27FC236}">
                    <a16:creationId xmlns:a16="http://schemas.microsoft.com/office/drawing/2014/main" id="{023E381B-5D05-3C14-DF2B-5BC258628EA8}"/>
                  </a:ext>
                </a:extLst>
              </p:cNvPr>
              <p:cNvGrpSpPr/>
              <p:nvPr userDrawn="1"/>
            </p:nvGrpSpPr>
            <p:grpSpPr>
              <a:xfrm>
                <a:off x="-1773055" y="123410"/>
                <a:ext cx="452006" cy="2074826"/>
                <a:chOff x="-2709812" y="0"/>
                <a:chExt cx="763449" cy="3504430"/>
              </a:xfrm>
            </p:grpSpPr>
            <p:sp>
              <p:nvSpPr>
                <p:cNvPr id="124" name="正方形/長方形 123">
                  <a:extLst>
                    <a:ext uri="{FF2B5EF4-FFF2-40B4-BE49-F238E27FC236}">
                      <a16:creationId xmlns:a16="http://schemas.microsoft.com/office/drawing/2014/main" id="{B7F1742F-83FF-F6CF-5E40-7F0AF56FCB09}"/>
                    </a:ext>
                  </a:extLst>
                </p:cNvPr>
                <p:cNvSpPr/>
                <p:nvPr userDrawn="1"/>
              </p:nvSpPr>
              <p:spPr>
                <a:xfrm>
                  <a:off x="-2709812" y="0"/>
                  <a:ext cx="763449" cy="71680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5" name="正方形/長方形 124">
                  <a:extLst>
                    <a:ext uri="{FF2B5EF4-FFF2-40B4-BE49-F238E27FC236}">
                      <a16:creationId xmlns:a16="http://schemas.microsoft.com/office/drawing/2014/main" id="{A3272A49-1BCD-717D-0268-966D21623E22}"/>
                    </a:ext>
                  </a:extLst>
                </p:cNvPr>
                <p:cNvSpPr/>
                <p:nvPr userDrawn="1"/>
              </p:nvSpPr>
              <p:spPr>
                <a:xfrm>
                  <a:off x="-2709812" y="929207"/>
                  <a:ext cx="763449" cy="71680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6" name="正方形/長方形 125">
                  <a:extLst>
                    <a:ext uri="{FF2B5EF4-FFF2-40B4-BE49-F238E27FC236}">
                      <a16:creationId xmlns:a16="http://schemas.microsoft.com/office/drawing/2014/main" id="{DED85DD5-E50D-766F-8623-6B50C9CFA87A}"/>
                    </a:ext>
                  </a:extLst>
                </p:cNvPr>
                <p:cNvSpPr/>
                <p:nvPr userDrawn="1"/>
              </p:nvSpPr>
              <p:spPr>
                <a:xfrm>
                  <a:off x="-2709812" y="1858417"/>
                  <a:ext cx="763449" cy="71680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7" name="正方形/長方形 126">
                  <a:extLst>
                    <a:ext uri="{FF2B5EF4-FFF2-40B4-BE49-F238E27FC236}">
                      <a16:creationId xmlns:a16="http://schemas.microsoft.com/office/drawing/2014/main" id="{1FE065B6-0F30-3D92-DD0E-7A91C29FF69E}"/>
                    </a:ext>
                  </a:extLst>
                </p:cNvPr>
                <p:cNvSpPr/>
                <p:nvPr userDrawn="1"/>
              </p:nvSpPr>
              <p:spPr>
                <a:xfrm>
                  <a:off x="-2709812" y="2787621"/>
                  <a:ext cx="763449" cy="71680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23" name="正方形/長方形 122">
                <a:extLst>
                  <a:ext uri="{FF2B5EF4-FFF2-40B4-BE49-F238E27FC236}">
                    <a16:creationId xmlns:a16="http://schemas.microsoft.com/office/drawing/2014/main" id="{4B82D84B-34A8-26AB-7924-585AF7B5A387}"/>
                  </a:ext>
                </a:extLst>
              </p:cNvPr>
              <p:cNvSpPr/>
              <p:nvPr userDrawn="1"/>
            </p:nvSpPr>
            <p:spPr>
              <a:xfrm>
                <a:off x="-1698382" y="-2913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3</a:t>
                </a:r>
                <a:endPara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游ゴシック Medium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6B0EDBF4-D181-DB2B-3469-AB949D9B5BFD}"/>
                </a:ext>
              </a:extLst>
            </p:cNvPr>
            <p:cNvGrpSpPr/>
            <p:nvPr userDrawn="1"/>
          </p:nvGrpSpPr>
          <p:grpSpPr>
            <a:xfrm>
              <a:off x="-596752" y="0"/>
              <a:ext cx="377678" cy="1865335"/>
              <a:chOff x="-955378" y="-34199"/>
              <a:chExt cx="452006" cy="2232435"/>
            </a:xfrm>
          </p:grpSpPr>
          <p:grpSp>
            <p:nvGrpSpPr>
              <p:cNvPr id="116" name="グループ化 115">
                <a:extLst>
                  <a:ext uri="{FF2B5EF4-FFF2-40B4-BE49-F238E27FC236}">
                    <a16:creationId xmlns:a16="http://schemas.microsoft.com/office/drawing/2014/main" id="{40AAA9F9-DCF7-86B4-A99E-D7A5C0D8FED8}"/>
                  </a:ext>
                </a:extLst>
              </p:cNvPr>
              <p:cNvGrpSpPr/>
              <p:nvPr userDrawn="1"/>
            </p:nvGrpSpPr>
            <p:grpSpPr>
              <a:xfrm>
                <a:off x="-955378" y="123410"/>
                <a:ext cx="452006" cy="2074826"/>
                <a:chOff x="-1330808" y="19671"/>
                <a:chExt cx="763449" cy="3504430"/>
              </a:xfrm>
            </p:grpSpPr>
            <p:sp>
              <p:nvSpPr>
                <p:cNvPr id="118" name="正方形/長方形 117">
                  <a:extLst>
                    <a:ext uri="{FF2B5EF4-FFF2-40B4-BE49-F238E27FC236}">
                      <a16:creationId xmlns:a16="http://schemas.microsoft.com/office/drawing/2014/main" id="{95EE3A91-4193-4D56-20B6-8B0DC98830E6}"/>
                    </a:ext>
                  </a:extLst>
                </p:cNvPr>
                <p:cNvSpPr/>
                <p:nvPr userDrawn="1"/>
              </p:nvSpPr>
              <p:spPr>
                <a:xfrm>
                  <a:off x="-1330808" y="19671"/>
                  <a:ext cx="763449" cy="71680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9" name="正方形/長方形 118">
                  <a:extLst>
                    <a:ext uri="{FF2B5EF4-FFF2-40B4-BE49-F238E27FC236}">
                      <a16:creationId xmlns:a16="http://schemas.microsoft.com/office/drawing/2014/main" id="{04C6B256-A8A6-EFEE-A8B7-727ED1490A1D}"/>
                    </a:ext>
                  </a:extLst>
                </p:cNvPr>
                <p:cNvSpPr/>
                <p:nvPr userDrawn="1"/>
              </p:nvSpPr>
              <p:spPr>
                <a:xfrm>
                  <a:off x="-1330808" y="948878"/>
                  <a:ext cx="763449" cy="716808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0" name="正方形/長方形 119">
                  <a:extLst>
                    <a:ext uri="{FF2B5EF4-FFF2-40B4-BE49-F238E27FC236}">
                      <a16:creationId xmlns:a16="http://schemas.microsoft.com/office/drawing/2014/main" id="{5656D044-813D-8F3F-39AF-CCB0602F4EB6}"/>
                    </a:ext>
                  </a:extLst>
                </p:cNvPr>
                <p:cNvSpPr/>
                <p:nvPr userDrawn="1"/>
              </p:nvSpPr>
              <p:spPr>
                <a:xfrm>
                  <a:off x="-1330808" y="1878086"/>
                  <a:ext cx="763449" cy="716808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1" name="正方形/長方形 120">
                  <a:extLst>
                    <a:ext uri="{FF2B5EF4-FFF2-40B4-BE49-F238E27FC236}">
                      <a16:creationId xmlns:a16="http://schemas.microsoft.com/office/drawing/2014/main" id="{06A491B0-B518-8721-DBB2-F26C8B566B9B}"/>
                    </a:ext>
                  </a:extLst>
                </p:cNvPr>
                <p:cNvSpPr/>
                <p:nvPr userDrawn="1"/>
              </p:nvSpPr>
              <p:spPr>
                <a:xfrm>
                  <a:off x="-1330808" y="2807293"/>
                  <a:ext cx="763449" cy="71680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17" name="正方形/長方形 116">
                <a:extLst>
                  <a:ext uri="{FF2B5EF4-FFF2-40B4-BE49-F238E27FC236}">
                    <a16:creationId xmlns:a16="http://schemas.microsoft.com/office/drawing/2014/main" id="{E073D5D5-DDBE-EE82-CE72-8A5B42EA1680}"/>
                  </a:ext>
                </a:extLst>
              </p:cNvPr>
              <p:cNvSpPr/>
              <p:nvPr userDrawn="1"/>
            </p:nvSpPr>
            <p:spPr>
              <a:xfrm>
                <a:off x="-880704" y="-3419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AD002CB7-4376-DB68-5EB0-AA01AA4F437E}"/>
                </a:ext>
              </a:extLst>
            </p:cNvPr>
            <p:cNvGrpSpPr/>
            <p:nvPr userDrawn="1"/>
          </p:nvGrpSpPr>
          <p:grpSpPr>
            <a:xfrm>
              <a:off x="-1471064" y="2018118"/>
              <a:ext cx="759864" cy="1868445"/>
              <a:chOff x="-2001755" y="2381088"/>
              <a:chExt cx="909406" cy="2236157"/>
            </a:xfrm>
          </p:grpSpPr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7D4E3791-B8FC-B255-0AFF-79FEED2E0CD5}"/>
                  </a:ext>
                </a:extLst>
              </p:cNvPr>
              <p:cNvGrpSpPr/>
              <p:nvPr userDrawn="1"/>
            </p:nvGrpSpPr>
            <p:grpSpPr>
              <a:xfrm>
                <a:off x="-1773055" y="2542419"/>
                <a:ext cx="452006" cy="2074826"/>
                <a:chOff x="-1330809" y="3775503"/>
                <a:chExt cx="763449" cy="3504430"/>
              </a:xfrm>
            </p:grpSpPr>
            <p:sp>
              <p:nvSpPr>
                <p:cNvPr id="112" name="正方形/長方形 111">
                  <a:extLst>
                    <a:ext uri="{FF2B5EF4-FFF2-40B4-BE49-F238E27FC236}">
                      <a16:creationId xmlns:a16="http://schemas.microsoft.com/office/drawing/2014/main" id="{2889D937-03E5-EF51-3CB8-FAC88D3A84A8}"/>
                    </a:ext>
                  </a:extLst>
                </p:cNvPr>
                <p:cNvSpPr/>
                <p:nvPr userDrawn="1"/>
              </p:nvSpPr>
              <p:spPr>
                <a:xfrm>
                  <a:off x="-1330809" y="3775503"/>
                  <a:ext cx="763449" cy="716808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3" name="正方形/長方形 112">
                  <a:extLst>
                    <a:ext uri="{FF2B5EF4-FFF2-40B4-BE49-F238E27FC236}">
                      <a16:creationId xmlns:a16="http://schemas.microsoft.com/office/drawing/2014/main" id="{95F57B1B-29D1-91D8-2222-2194A05CE9FA}"/>
                    </a:ext>
                  </a:extLst>
                </p:cNvPr>
                <p:cNvSpPr/>
                <p:nvPr userDrawn="1"/>
              </p:nvSpPr>
              <p:spPr>
                <a:xfrm>
                  <a:off x="-1330809" y="4704710"/>
                  <a:ext cx="763449" cy="716808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4" name="正方形/長方形 113">
                  <a:extLst>
                    <a:ext uri="{FF2B5EF4-FFF2-40B4-BE49-F238E27FC236}">
                      <a16:creationId xmlns:a16="http://schemas.microsoft.com/office/drawing/2014/main" id="{FDB56576-C641-A72F-3B69-C6966BEB231D}"/>
                    </a:ext>
                  </a:extLst>
                </p:cNvPr>
                <p:cNvSpPr/>
                <p:nvPr userDrawn="1"/>
              </p:nvSpPr>
              <p:spPr>
                <a:xfrm>
                  <a:off x="-1330809" y="5633918"/>
                  <a:ext cx="763449" cy="7168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5" name="正方形/長方形 114">
                  <a:extLst>
                    <a:ext uri="{FF2B5EF4-FFF2-40B4-BE49-F238E27FC236}">
                      <a16:creationId xmlns:a16="http://schemas.microsoft.com/office/drawing/2014/main" id="{7A2D6452-CCFB-C707-E69D-E6E0C8DB562E}"/>
                    </a:ext>
                  </a:extLst>
                </p:cNvPr>
                <p:cNvSpPr/>
                <p:nvPr userDrawn="1"/>
              </p:nvSpPr>
              <p:spPr>
                <a:xfrm>
                  <a:off x="-1330809" y="6563125"/>
                  <a:ext cx="763449" cy="71680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11" name="正方形/長方形 110">
                <a:extLst>
                  <a:ext uri="{FF2B5EF4-FFF2-40B4-BE49-F238E27FC236}">
                    <a16:creationId xmlns:a16="http://schemas.microsoft.com/office/drawing/2014/main" id="{57FEB6A0-EAC7-6854-E2E3-B57600242B05}"/>
                  </a:ext>
                </a:extLst>
              </p:cNvPr>
              <p:cNvSpPr/>
              <p:nvPr userDrawn="1"/>
            </p:nvSpPr>
            <p:spPr>
              <a:xfrm>
                <a:off x="-2001755" y="2381088"/>
                <a:ext cx="909406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アクセント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721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游ゴシック Medium"/>
                <a:ea typeface="游ゴシック Medium"/>
                <a:cs typeface="游ゴシック Medium"/>
              </a:rPr>
              <a:t>Claude Code / </a:t>
            </a:r>
            <a:r>
              <a:rPr dirty="0" err="1">
                <a:latin typeface="游ゴシック Medium"/>
                <a:ea typeface="游ゴシック Medium"/>
                <a:cs typeface="游ゴシック Medium"/>
              </a:rPr>
              <a:t>Cowork</a:t>
            </a:r>
            <a:r>
              <a:rPr dirty="0">
                <a:latin typeface="游ゴシック Medium"/>
                <a:ea typeface="游ゴシック Medium"/>
                <a:cs typeface="游ゴシック Medium"/>
              </a:rPr>
              <a:t> </a:t>
            </a:r>
            <a:r>
              <a:rPr dirty="0" err="1">
                <a:latin typeface="游ゴシック Medium"/>
                <a:ea typeface="游ゴシック Medium"/>
                <a:cs typeface="游ゴシック Medium"/>
              </a:rPr>
              <a:t>と周辺ツールの位置づけ</a:t>
            </a:r>
            <a:endParaRPr dirty="0">
              <a:latin typeface="游ゴシック Medium"/>
              <a:ea typeface="游ゴシック Medium"/>
              <a:cs typeface="游ゴシック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205306" y="5470206"/>
            <a:ext cx="6172412" cy="947344"/>
          </a:xfrm>
        </p:spPr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出典：各社公式ドキュメント（Anthropic / Microsoft Learn / OpenAI / Google）・2026-10時点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dirty="0">
              <a:latin typeface="游ゴシック Medium"/>
              <a:ea typeface="游ゴシック Medium"/>
              <a:cs typeface="游ゴシック Medium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>
              <a:latin typeface="游ゴシック Medium"/>
              <a:ea typeface="游ゴシック Medium"/>
              <a:cs typeface="游ゴシック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97E97DB-B53A-043D-E3F7-908B7EB6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Microsoft 365 Copilot</a:t>
            </a:r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30DF768-4277-157F-94FA-EB15D8086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76" y="1252728"/>
            <a:ext cx="7772400" cy="5505874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2494084B-435C-753D-B27E-EEC95279D1F1}"/>
              </a:ext>
            </a:extLst>
          </p:cNvPr>
          <p:cNvSpPr txBox="1"/>
          <p:nvPr/>
        </p:nvSpPr>
        <p:spPr>
          <a:xfrm>
            <a:off x="813816" y="1024128"/>
            <a:ext cx="10561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300" b="0" dirty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Microsoft </a:t>
            </a:r>
            <a:r>
              <a:rPr lang="en-US" sz="1300" b="0" dirty="0" err="1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製品との相性が良く、エクセルやワードの編集がしやすい</a:t>
            </a:r>
            <a:r>
              <a:rPr lang="en-US" sz="1300" b="0" dirty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。</a:t>
            </a:r>
            <a:endParaRPr sz="1300" b="0" dirty="0">
              <a:solidFill>
                <a:srgbClr val="B9C6DA"/>
              </a:solidFill>
              <a:latin typeface="游ゴシック Medium"/>
              <a:ea typeface="游ゴシック Medium"/>
              <a:cs typeface="游ゴシック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6045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Microsoft 365 Copilot でできること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使い慣れた Microsoft 製品の中で、自社データを使って日常業務を支援します。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27048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" y="144475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Officeアプリの中で使える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819656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Word・Excel・PowerPoint・Outlook・Teams から直接呼び出せる。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309774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22747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自社データを自動で活用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0238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メール・文書・会議・予定を参照して、要約・下書き・分析ができる。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3092500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301020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会議・メールを効率化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385108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Teams会議の要約やアクション抽出、メールの下書き・整理。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3875227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3792931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資料・データ作成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167835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PowerPointのスライド生成、Excelのデータ分析・数式・グラフ作成。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" y="4657953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4575657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エージェントで自動化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950561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Copilot Studio で業務プロセス用のエージェントを作成できる。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97E97DB-B53A-043D-E3F7-908B7EB6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Claude Cowork</a:t>
            </a:r>
            <a:endParaRPr lang="ja-JP" alt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E6C7504-A2BD-274D-D8CC-A1D8B3CA005E}"/>
              </a:ext>
            </a:extLst>
          </p:cNvPr>
          <p:cNvSpPr txBox="1"/>
          <p:nvPr/>
        </p:nvSpPr>
        <p:spPr>
          <a:xfrm>
            <a:off x="813816" y="1024128"/>
            <a:ext cx="10561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300" dirty="0" err="1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プロジェクトを作成し、フォルダを指定することで包括的にファイルを扱う</a:t>
            </a:r>
            <a:endParaRPr sz="1300" b="0" dirty="0">
              <a:solidFill>
                <a:srgbClr val="B9C6DA"/>
              </a:solidFill>
              <a:latin typeface="游ゴシック Medium"/>
              <a:ea typeface="游ゴシック Medium"/>
              <a:cs typeface="游ゴシック Medium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D09A6CA-5D28-FE57-FFC8-2CACA3CC8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76" y="1468740"/>
            <a:ext cx="7772400" cy="460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7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Claude Cowork でできること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ターミナル不要で、まとまった作業を丸ごと任せられる自律エージェントです。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27048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" y="144475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コード不要で自律実行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819656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コマンドを書かずに、複数ステップの作業を計画→実行できる。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309774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22747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ローカルのファイルを直接扱う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0238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選んだフォルダのファイルを、アップロードなしで読み書き・新規作成。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3092500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301020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Web・外部ツール・コードまで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385108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Web参照、外部ツール連携(MCP)、コード実行まで任せられる。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3875227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3792931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多様な成果物を生成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167835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文書・スライド・表・レポートに加え、独自ツールやダッシュボードも。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" y="4657953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4575657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定期実行で自動化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950561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作ったタスクをスケジュール実行し、繰り返し処理を自動化できる。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Microsoft 365 Copilot と Claude Cowork の住み分け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似た作業はどちらもできます。差が出るのは、仕事の“難所”がどちらの強みに当たるかです</a:t>
            </a:r>
            <a:r>
              <a:rPr sz="1300" b="0" dirty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481328"/>
          <a:ext cx="1056132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観点</a:t>
                      </a:r>
                    </a:p>
                  </a:txBody>
                  <a:tcPr anchor="ctr">
                    <a:solidFill>
                      <a:srgbClr val="003D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Microsoft 365 Copilot（自社Cowork/Code含む）</a:t>
                      </a:r>
                    </a:p>
                  </a:txBody>
                  <a:tcPr anchor="ctr">
                    <a:solidFill>
                      <a:srgbClr val="003D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Claude Cowork</a:t>
                      </a:r>
                    </a:p>
                  </a:txBody>
                  <a:tcPr anchor="ctr">
                    <a:solidFill>
                      <a:srgbClr val="003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得意（強み）</a:t>
                      </a:r>
                    </a:p>
                  </a:txBody>
                  <a:tcPr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自社データへの接続・統合</a:t>
                      </a:r>
                    </a:p>
                  </a:txBody>
                  <a:tcPr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自律実行の深さと柔軟性</a:t>
                      </a:r>
                    </a:p>
                  </a:txBody>
                  <a:tcPr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どこから使う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Teams・Outlook・Word など使い慣れた製品の中から呼び出す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専用アプリ（独立した作業環境）で使う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データへの接続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自社テナント(Graph / Work IQ)を自動参照（ローカルは個別アップロードのみ）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渡したフォルダ＋Web＋外部ツール(MCP)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向いている仕事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社内情報を使った要約・下書き・分析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62B30"/>
                          </a:solidFill>
                          <a:latin typeface="游ゴシック Medium"/>
                          <a:ea typeface="游ゴシック Medium"/>
                          <a:cs typeface="游ゴシック Medium"/>
                        </a:rPr>
                        <a:t>多段処理・データ加工・独自成果物づくり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" y="4114800"/>
            <a:ext cx="10561320" cy="451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例</a:t>
            </a:r>
            <a:r>
              <a:rPr sz="1300" b="1" dirty="0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：</a:t>
            </a:r>
            <a:r>
              <a:rPr sz="13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「競合3社の決算を比べたい」→ </a:t>
            </a:r>
            <a:r>
              <a:rPr sz="13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社内に資料があれば</a:t>
            </a:r>
            <a:r>
              <a:rPr sz="13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 Copilot </a:t>
            </a:r>
            <a:r>
              <a:rPr sz="13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で要約</a:t>
            </a:r>
            <a:r>
              <a:rPr sz="13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。</a:t>
            </a:r>
            <a:endParaRPr lang="en-US" sz="1300" b="0" dirty="0">
              <a:solidFill>
                <a:srgbClr val="E8EDF4"/>
              </a:solidFill>
              <a:latin typeface="游ゴシック Medium"/>
              <a:ea typeface="游ゴシック Medium"/>
              <a:cs typeface="游ゴシック Medium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公開データやCSVから作るなら</a:t>
            </a:r>
            <a:r>
              <a:rPr sz="13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 </a:t>
            </a:r>
            <a:r>
              <a:rPr sz="13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Cowork</a:t>
            </a:r>
            <a:r>
              <a:rPr sz="13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 </a:t>
            </a:r>
            <a:r>
              <a:rPr sz="13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が取得・解析してダッシュボード化</a:t>
            </a:r>
            <a:r>
              <a:rPr sz="13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5029200"/>
            <a:ext cx="10561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統治は</a:t>
            </a:r>
            <a:r>
              <a:rPr sz="12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 Copilot </a:t>
            </a:r>
            <a:r>
              <a:rPr sz="12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が</a:t>
            </a:r>
            <a:r>
              <a:rPr sz="1200" b="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 M365準拠、Cowork </a:t>
            </a:r>
            <a:r>
              <a:rPr sz="1200" b="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は権限確認・フォルダ単位の制限。両者とも自律エージェント機能を持</a:t>
            </a:r>
            <a:r>
              <a:rPr lang="en-US" sz="1200" dirty="0" err="1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つ</a:t>
            </a:r>
            <a:r>
              <a:rPr lang="en-US" sz="1200" dirty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。</a:t>
            </a:r>
            <a:endParaRPr sz="1200" b="0" dirty="0">
              <a:solidFill>
                <a:srgbClr val="E8EDF4"/>
              </a:solidFill>
              <a:latin typeface="游ゴシック Medium"/>
              <a:ea typeface="游ゴシック Medium"/>
              <a:cs typeface="游ゴシック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Copilot</a:t>
            </a:r>
            <a:r>
              <a:rPr lang="en-US" dirty="0">
                <a:latin typeface="游ゴシック Medium"/>
                <a:ea typeface="游ゴシック Medium"/>
                <a:cs typeface="游ゴシック Medium"/>
              </a:rPr>
              <a:t> </a:t>
            </a:r>
            <a:r>
              <a:rPr lang="ja-JP" altLang="en-US">
                <a:latin typeface="游ゴシック Medium"/>
                <a:ea typeface="游ゴシック Medium"/>
                <a:cs typeface="游ゴシック Medium"/>
              </a:rPr>
              <a:t>に</a:t>
            </a:r>
            <a:r>
              <a:rPr lang="en-US" altLang="ja-JP" dirty="0">
                <a:latin typeface="游ゴシック Medium"/>
                <a:ea typeface="游ゴシック Medium"/>
                <a:cs typeface="游ゴシック Medium"/>
              </a:rPr>
              <a:t> Claude Cowork </a:t>
            </a:r>
            <a:r>
              <a:rPr lang="ja-JP" altLang="en-US">
                <a:latin typeface="游ゴシック Medium"/>
                <a:ea typeface="游ゴシック Medium"/>
                <a:cs typeface="游ゴシック Medium"/>
              </a:rPr>
              <a:t>を加えるメリット</a:t>
            </a:r>
            <a:endParaRPr>
              <a:latin typeface="游ゴシック Medium"/>
              <a:ea typeface="游ゴシック Medium"/>
              <a:cs typeface="游ゴシック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CopilotだけではカバーしにくいデータやタスクをClaude</a:t>
            </a:r>
            <a:r>
              <a:rPr sz="1300" b="0" dirty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 </a:t>
            </a:r>
            <a:r>
              <a:rPr sz="1300" b="0" dirty="0" err="1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Coworkが担います</a:t>
            </a:r>
            <a:r>
              <a:rPr sz="1300" b="0" dirty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636776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" y="155448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社外・非Officeのデータも扱える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929384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M365テナントの外にあるデータや形式（社外の公開データ・他システムのCSVなど）も直接処理できます。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478024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3957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成果物の自由度が高い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77063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Office文書に限らず、独自のツールやHTMLダッシュボードなどを生成できます。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3319272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323697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タスクを丸ごと自律実行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11879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複数ステップを計画して実行し、外部ツール(MCP)やコード実行まで任せられます。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4160520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407822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範囲を絞って導入できる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53128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フォルダ制限や権限確認で、使える範囲を限定して導入できます（Bedrock等のクラウドにも対応）。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61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ポイント：</a:t>
            </a:r>
            <a:r>
              <a:rPr sz="14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CopilotはOfficeの中と自社データに強く、Coworkはその範囲外のデータやタスクを担当します（補完の関係）。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97E97DB-B53A-043D-E3F7-908B7EB6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Claude Code</a:t>
            </a:r>
            <a:endParaRPr lang="ja-JP" altLang="en-US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494084B-435C-753D-B27E-EEC95279D1F1}"/>
              </a:ext>
            </a:extLst>
          </p:cNvPr>
          <p:cNvSpPr txBox="1"/>
          <p:nvPr/>
        </p:nvSpPr>
        <p:spPr>
          <a:xfrm>
            <a:off x="813816" y="1024128"/>
            <a:ext cx="10561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300" b="0" dirty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Claude Cowork </a:t>
            </a:r>
            <a:r>
              <a:rPr lang="en-US" sz="1300" b="0" dirty="0" err="1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よりも、コードの実装などに特化</a:t>
            </a:r>
            <a:endParaRPr lang="en-US" sz="1300" b="0" dirty="0">
              <a:solidFill>
                <a:srgbClr val="B9C6DA"/>
              </a:solidFill>
              <a:latin typeface="游ゴシック Medium"/>
              <a:ea typeface="游ゴシック Medium"/>
              <a:cs typeface="游ゴシック Medium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0A07DAD-5113-385F-6437-A524E1903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76" y="1468740"/>
            <a:ext cx="7772400" cy="492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9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Claude Cowork と Claude Code の使い分け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できること自体は同じClaudeでほぼ共通（MCP・コード実行・デスクトップアプリもどちらにもあります）。違いは“何に向くか・誰向けか”です。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783080"/>
            <a:ext cx="51937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" y="2011680"/>
            <a:ext cx="4645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2441448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一般業務むけ（コード不要）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862072"/>
            <a:ext cx="464515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業務ユーザー（非エンジニア）向け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文書・スライド・表づくり、調査・データ整理に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デスクトップアプリ/Webで対話しながら使う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コードやコマンドを書かなくてよい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783080"/>
            <a:ext cx="51937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645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441448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ソフトウェア開発むけ（エンジニア）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862072"/>
            <a:ext cx="464515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エンジニア・開発者向け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コードを書く・動かす・テストして自分で直す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実際のプロジェクトの中で作業（git・ビルド・CI）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•  </a:t>
            </a:r>
            <a:r>
              <a:rPr sz="12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ターミナル(CLI)やIDEからも使える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4709160"/>
            <a:ext cx="10561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使い分け：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・コーディングは不要で、日常業務のタスク（調査・資料・データ整理）を任せたいとき → Claude Cowork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・コードやCLIで作り込み・自動化・リポジトリ操作をしたいとき → Claude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【参考】Claude Code と同じ土俵の競合ツール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Claude Code と同じ土俵のツール。ターミナル(CLI)からコードやファイルを自律操作して開発を進めます。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600200"/>
            <a:ext cx="33467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" y="181965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203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87752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形態：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CLI＋デスクトップの自律型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モデル：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Claude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特徴：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スキルやMCPで拡張できる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1124" y="1600200"/>
            <a:ext cx="33467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77156" y="181965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OpenAI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7156" y="2203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156" y="2587752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形態：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CLI(OSS)＋クラウド＋IDE拡張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モデル：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GPT-5-codex 系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特徴：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ローカルとクラウドを行き来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600200"/>
            <a:ext cx="33467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81965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Gemini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03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87752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形態：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OSSのターミナル型エージェント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モデル：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Gemini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特徴：</a:t>
            </a:r>
            <a:r>
              <a:rPr sz="11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後継のAntigravity CLIへ移行中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663440"/>
            <a:ext cx="10561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選ぶ基準：</a:t>
            </a:r>
            <a:r>
              <a:rPr sz="14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モデル品質・既存エコシステム・社内方針で決めます。用途が重なるため、基本はどれか1つを選びます。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住み分けの一言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572768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6" y="15087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既存のMicrosoft世界に根ざし、社内データを自動で活用したいとき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→ Microsoft 365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" y="2578608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25146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特定のデータや外部ツールを、独立した環境で完結させたいとき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→ Claude Cowork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3584448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352044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コードを書く・自動化するなど開発そのものを任せたいとき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→ Claude Code / OpenAI Codex / Gemini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4846320"/>
            <a:ext cx="10561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注意：</a:t>
            </a: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「Cowork」は両社が使う名称です。CopilotもClaudeを利用でき、モデルの違いより「どこに根ざすか」で選びます。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Claude Code でできること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エンジニアが、ターミナルやIDEから開発そのものを任せられる自律エージェントです。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27048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144475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開発環境の中で動く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819656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ターミナル(CLI)・デスクトップアプリ・IDEから、実際のプロジェクトの中で作業。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309774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22747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コードを書く・動かす・直す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02382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コードを実行してテストし、エラーを自分で直す反復に強い。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3092500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0102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開発ワークフローに対応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385108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ファイル編集・git・ビルド・CI など、開発の一連の流れを自動化。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3875227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792931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スキルやCLAUDE.mdで拡張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167835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よく使う手順をスキル化し、プロジェクトの決まり事を教えられる。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" y="4657953"/>
            <a:ext cx="137160" cy="137160"/>
          </a:xfrm>
          <a:prstGeom prst="rect">
            <a:avLst/>
          </a:prstGeom>
          <a:solidFill>
            <a:srgbClr val="8FB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575657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外部ツール連携・データ処理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950561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EDF4"/>
                </a:solidFill>
                <a:latin typeface="游ゴシック Medium"/>
                <a:ea typeface="游ゴシック Medium"/>
                <a:cs typeface="游ゴシック Medium"/>
              </a:rPr>
              <a:t>MCPで外部ツールと連携、コマンド実行やデータ処理も任せられる。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5_BusinessPromise_ver.1">
  <a:themeElements>
    <a:clrScheme name="ユーザー定義 23">
      <a:dk1>
        <a:srgbClr val="003D86"/>
      </a:dk1>
      <a:lt1>
        <a:srgbClr val="FFFFFF"/>
      </a:lt1>
      <a:dk2>
        <a:srgbClr val="003D86"/>
      </a:dk2>
      <a:lt2>
        <a:srgbClr val="FFFFFF"/>
      </a:lt2>
      <a:accent1>
        <a:srgbClr val="005CCA"/>
      </a:accent1>
      <a:accent2>
        <a:srgbClr val="43AF86"/>
      </a:accent2>
      <a:accent3>
        <a:srgbClr val="E39A49"/>
      </a:accent3>
      <a:accent4>
        <a:srgbClr val="A961BF"/>
      </a:accent4>
      <a:accent5>
        <a:srgbClr val="C2C2C2"/>
      </a:accent5>
      <a:accent6>
        <a:srgbClr val="EE5454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dirty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1"/>
            </a:solidFill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d54735c-8563-480c-aa17-13e507c6fcf6" xsi:nil="true"/>
    <lcf76f155ced4ddcb4097134ff3c332f xmlns="768ecba8-f556-413e-93cf-a669b10e85e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AA98F3332D97A45A4456E8DA039AEBC" ma:contentTypeVersion="12" ma:contentTypeDescription="新しいドキュメントを作成します。" ma:contentTypeScope="" ma:versionID="a9dd5d2222e388c7d315e043965fb87e">
  <xsd:schema xmlns:xsd="http://www.w3.org/2001/XMLSchema" xmlns:xs="http://www.w3.org/2001/XMLSchema" xmlns:p="http://schemas.microsoft.com/office/2006/metadata/properties" xmlns:ns2="768ecba8-f556-413e-93cf-a669b10e85e2" xmlns:ns3="5d54735c-8563-480c-aa17-13e507c6fcf6" targetNamespace="http://schemas.microsoft.com/office/2006/metadata/properties" ma:root="true" ma:fieldsID="3be956df6bb9cabc9cd1a95b5e82f7fe" ns2:_="" ns3:_="">
    <xsd:import namespace="768ecba8-f556-413e-93cf-a669b10e85e2"/>
    <xsd:import namespace="5d54735c-8563-480c-aa17-13e507c6fc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ba8-f556-413e-93cf-a669b10e8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4735c-8563-480c-aa17-13e507c6fc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a389499-0d15-4af5-a8f8-3328c899a89d}" ma:internalName="TaxCatchAll" ma:showField="CatchAllData" ma:web="5d54735c-8563-480c-aa17-13e507c6fc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FB5523-FEB7-4908-9109-C2FCB7452423}">
  <ds:schemaRefs>
    <ds:schemaRef ds:uri="http://schemas.microsoft.com/office/2006/metadata/properties"/>
    <ds:schemaRef ds:uri="http://schemas.microsoft.com/office/infopath/2007/PartnerControls"/>
    <ds:schemaRef ds:uri="5d54735c-8563-480c-aa17-13e507c6fcf6"/>
    <ds:schemaRef ds:uri="768ecba8-f556-413e-93cf-a669b10e85e2"/>
  </ds:schemaRefs>
</ds:datastoreItem>
</file>

<file path=customXml/itemProps2.xml><?xml version="1.0" encoding="utf-8"?>
<ds:datastoreItem xmlns:ds="http://schemas.openxmlformats.org/officeDocument/2006/customXml" ds:itemID="{458AE83B-8FBF-46E4-95C5-6FC34C176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F9275D-B4EB-4C8E-9255-310B2138FD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8ecba8-f556-413e-93cf-a669b10e85e2"/>
    <ds:schemaRef ds:uri="5d54735c-8563-480c-aa17-13e507c6fc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713</Words>
  <Application>Microsoft Macintosh PowerPoint</Application>
  <PresentationFormat>ワイド画面</PresentationFormat>
  <Paragraphs>107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游ゴシック</vt:lpstr>
      <vt:lpstr>游ゴシック</vt:lpstr>
      <vt:lpstr>游ゴシック Medium</vt:lpstr>
      <vt:lpstr>游ゴシック Medium</vt:lpstr>
      <vt:lpstr>Arial</vt:lpstr>
      <vt:lpstr>2025_BusinessPromise_ver.1</vt:lpstr>
      <vt:lpstr>Claude Code / Cowork と周辺ツールの位置づけ</vt:lpstr>
      <vt:lpstr>Microsoft 365 Copilot</vt:lpstr>
      <vt:lpstr>Microsoft 365 Copilot でできること</vt:lpstr>
      <vt:lpstr>Claude Cowork</vt:lpstr>
      <vt:lpstr>Claude Cowork でできること</vt:lpstr>
      <vt:lpstr>Microsoft 365 Copilot と Claude Cowork の住み分け</vt:lpstr>
      <vt:lpstr>Copilot に Claude Cowork を加えるメリット</vt:lpstr>
      <vt:lpstr>Claude Code</vt:lpstr>
      <vt:lpstr>Claude Cowork と Claude Code の使い分け</vt:lpstr>
      <vt:lpstr>【参考】Claude Code と同じ土俵の競合ツール</vt:lpstr>
      <vt:lpstr>住み分けの一言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Yuma Mitsui</dc:creator>
  <cp:lastModifiedBy>板倉　翔太</cp:lastModifiedBy>
  <cp:revision>74</cp:revision>
  <dcterms:created xsi:type="dcterms:W3CDTF">2025-02-21T11:36:23Z</dcterms:created>
  <dcterms:modified xsi:type="dcterms:W3CDTF">2026-10-20T04:54:51Z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2025-02-26T05:21:00Z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409e75ba-ed6c-46ec-8ac8-331d2d64c1ff</vt:lpwstr>
  </property>
  <property fmtid="{D5CDD505-2E9C-101B-9397-08002B2CF9AE}" pid="8" name="MSIP_Label_babb27ca-7868-470c-8d5b-74df37759162_ContentBits">
    <vt:lpwstr>0</vt:lpwstr>
  </property>
  <property fmtid="{D5CDD505-2E9C-101B-9397-08002B2CF9AE}" pid="9" name="ContentTypeId">
    <vt:lpwstr>0x010100CAA98F3332D97A45A4456E8DA039AEBC</vt:lpwstr>
  </property>
  <property fmtid="{D5CDD505-2E9C-101B-9397-08002B2CF9AE}" pid="10" name="MediaServiceImageTags">
    <vt:lpwstr/>
  </property>
</Properties>
</file>